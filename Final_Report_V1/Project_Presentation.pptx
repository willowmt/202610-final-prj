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project as a teaching-simulator study of image brightness processing. The cover lists both team members with their student IDs; the submission date is still blank and should be filled before presenting. Explain that the presentation follows the supplied twelve-slide template. Separate recorded simulator results from workload estimates throughout.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operation before discussing speed. Inputs below 128 receive +32; all others receive −8. The CPU loads a pixel, compares it, follows an arithmetic path, stores the result and advances the loop. Fetch/decode/execute is conceptual here: the simulator advances whole instructions, not overlapping pipeline stages. Correct output is a requirement, not something traded away for speed.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screenshot is from the original Real Case 1 trace after its first pixel. R3 is 0x23 (35), R4 is 0x43 (67), R1 is 0x401 and R0 is one. R2 holds 128, R6 holds 32 and R7 holds positive 8 for subtraction. R5 is unused in baseline; no stack spill instructions are present. Zero spills is established by code inspection, not a measured hardware counter. A miss costs 50 total, which is the 3-cycle load plus 47 extra cycles. Only loads enter the cache counters. Stores always cost three cycles; HALT is displayed but not charged. Best/Worst/real brightness prediction probabilities are 95%/50%/80%. All loop predictions are counted as correct. Some register-panel clipping is inherited from the source image.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input design and the evidence boundary. The four complete recorded baseline traces are the four representative case examples. The Word submission documents nine captured experiments: these four, a fixed-input clustered baseline repeat, and four changed-program Best Case captures. The separate repeatability benchmark has five programs, four cases and forty independent repetitions per cell. Inputs were held fixed within each benchmark case; Real Case 2 was pinned to the same list across programs. Outputs were checked after every run. Edge-case values on this slide are calculated boundary checks of the specified rule, not additional measured simulator runs or screenshots: 127 takes ADD and yields 159; 128 takes SUB and yields 120; the endpoints yield 32 and 247. The discontinuity at the threshold is part of the stated algorithm. Do not invent cache or prediction counts for these calculated checks.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E1 is the original Best Case step trace, Run 9. Total 366 = 210 base + 3 misses × 47 + 1 wrong prediction × 15. CPP is 366/16 = 22.875, displayed as 22.88. Cache hit rate is 13/16 = 81.25%; overall branch accuracy is 31/32 = 96.875%. Brightness-only accuracy is 15/16 = 93.75%. The sample screenshots show rounded rates. These are results of one captured run; the separate forty-run Best Case baseline averages 362.725 cycles. The baseline minimum is 210/16 = 13.125 CPP even with no delays, so the scenario target below five CPP is not reachable by this program.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E2 is the original Worst Case trace, Run 10. Total 378 = 226 base + 47 cache delay + 105 branch delay. Its single miss is below the expected 3.2 misses across sixteen loads. Seven brightness mispredictions mean nine of sixteen brightness predictions were correct; with sixteen always-correct loop predictions, the displayed count is 25/32. The forty-run baseline Worst Case mean is 502.925 cycles. This one low total does not reverse the broader ranking. A useful answer to a professor is that case labels describe input patterns, while random cache outcomes can change the order of individual runs.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E3 is Run 11: 451 cycles, 28.1875 CPP, 13 hits, 3 misses, 26/32 correct overall predictions and 231 stalls. Its 11/16 dark split is 68.75%, close to the case label of 70%. E4 is Run 12: 397 cycles, 24.8125 CPP, 13 hits, 3 misses, 30/32 correct predictions and 171 stalls. Both inputs are synthetic simulator cases rather than photographs that were independently sampled. Compared with E1, E3 adds ten base cycles and seventy-five branch-delay cycles; E4 adds sixteen base cycles and fifteen branch-delay cycles. All three have three misses. The clustered case does not demonstrate a learning predictor: the code uses a fixed 80% brightness-prediction probability for both realistic cases. The screenshots are performance-panel crops; rates and extra counters here come from those same recorded runs.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each finding with its cause. Cache misses dominate E1, E3 and E4; E2 is the exception because it had only one miss. The chart includes all base work and delays, and the bars sum to 366, 378, 451 and 397 cycles. Overall branch accuracy includes a guaranteed-correct loop branch per pixel; brightness-only accuracy isolates the uncertain BLT decisions. For optimization, the combined Worst Case mean is 329.575 versus 502.925 for baseline. The reduction is computed from the matched means, not from a favorable screenshot. The combined program reduces base work from 226 to 178 cycles and removes brightness mispredictions. Changes in random miss counts also contribute to sample differences. The machine model is not a cache-line simulation or a hardware benchmark.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native PowerPoint table is calculated directly from all 800 measurements. Highlighted cells mark the lowest observed mean within each case. Best Case unrolled: 316.45 versus baseline 362.725, a 12.8% reduction. Combined: Worst 329.575, Real Case 1 337.80 and Real Case 2 335.45; corresponding reductions are 34.5%, 23.2% and 19.2%. Keep the Best Case qualification: unrolled leads combined by 26.05 cycles, about 1.7 standard errors of the difference, so that pair is not decisively separated. Branch-free Best averages 376.40, 3.8% slower than baseline. Every benchmark record satisfies cycles = base + 47 × misses + 15 × wrong predictions. All 16 outputs were checked in every execution. The operation costs for CSEL, four-pixel increments and offset addressing are explicit model assumptions.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Prediction accuracy and output accuracy are different. A wrong prediction costs cycles but the simulator still takes the correct brightness path; there was no loss of image-output correctness. Static instruction counts include the displayed HALT entry: baseline 14, branch-free 13, unrolled 35, pointer-loop 13 and combined 31. These are model listing lengths, not compiled byte sizes. Unrolling cuts loop branches 75%, but total conditional branches only fall from 32 to 20. The model cannot measure cache-size, tiling or prefetch benefits. Capacity assumptions match the Word submission: one image = 65,536 pixels, two million processed images/day, 2.4 GHz per processor, and an entire batch due in four hours. Using the exact forty-run Real Case 1 baseline mean needs 1501.27 CPU seconds/day against 14,400 seconds. One processor therefore suffices. A twenty-percent cycle reduction gives 1/0.8 = 1.25 throughput, but the rounded count stays one. Electricity at 8 W all day is 0.008 × 24 × 0.12 × 365 = $8.4096/year. Savings require lower active-to-idle power or fewer processors; a constant-power bill does not fall just because execution finishes earlier. Only half of uploaded images may need adjustment; then active processing totals halve, not the constant bill.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each recommendation with the table rather than an isolated screenshot. Combined reduces the mean by 34.5%, 23.2% and 19.2% for Worst, Real Case 1 and Real Case 2. Unrolled has the lowest observed Best mean at 316.45 cycles, but its lead over combined is a near-tie under the reported sampling uncertainty. Test those candidates further rather than claiming a universal winner. For real edge-image workloads, validate output equivalence, compiled code size, register spills, cache behavior and measured power. The simulator has fixed random event probabilities and no learning predictor or real cache contents. CSEL and the new addressing/increment forms are modeled assumptions. A useful lesson is to separate base instructions, random penalties and output correctness: they explain different parts of performance. All claims here are limited to the supplied teaching model.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Prepare for four questions. 1. Why can Best Case mispredict? The simulator draws 95% correctness per BLT, not 100%. 2. Why is the Worst trace only 378 cycles? It drew one miss: 226 + 47 + 7 × 15 = 378; its forty-run mean is 502.925. 3. Which optimization should be selected? Combined leads Worst and both realistic cases; unrolled has the smallest Best mean but only a tentative lead over combined. 4. Why are savings small? One 8 W processor costs only $8.4096/year at the stated tariff, and the simplified four-hour workload still needs one processor after optimization. If asked about targets: the baseline floor is 13.125 CPP, above the handout target below five. If asked about edge cases: 127, 128, 0 and 255 were shown as calculated rule checks, not measured event histories. Do not claim those examples have recorded cache counts. If asked about verification: cycle reconciliation, output checks and captured states check consistency; checksums alone do not authenticate when an observation was collected.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67EEA"/>
        </a:solidFill>
      </p:bgPr>
    </p:bg>
    <p:spTree>
      <p:nvGrpSpPr>
        <p:cNvPr id="1" name=""/>
        <p:cNvGrpSpPr/>
        <p:nvPr/>
      </p:nvGrpSpPr>
      <p:grpSpPr>
        <a:xfrm>
          <a:off x="0" y="0"/>
          <a:ext cx="0" cy="0"/>
          <a:chOff x="0" y="0"/>
          <a:chExt cx="0" cy="0"/>
        </a:xfrm>
      </p:grpSpPr>
      <p:sp>
        <p:nvSpPr>
          <p:cNvPr id="2" name="Template title"/>
          <p:cNvSpPr txBox="1"/>
          <p:nvPr/>
        </p:nvSpPr>
        <p:spPr>
          <a:xfrm>
            <a:off x="457200" y="1097280"/>
            <a:ext cx="8229600" cy="804672"/>
          </a:xfrm>
          <a:prstGeom prst="rect">
            <a:avLst/>
          </a:prstGeom>
          <a:noFill/>
        </p:spPr>
        <p:txBody>
          <a:bodyPr wrap="square" lIns="0" rIns="0" tIns="0" bIns="0" anchor="t">
            <a:noAutofit/>
          </a:bodyPr>
          <a:lstStyle/>
          <a:p>
            <a:pPr algn="ctr">
              <a:lnSpc>
                <a:spcPts val="5759"/>
              </a:lnSpc>
              <a:spcBef>
                <a:spcPts val="0"/>
              </a:spcBef>
              <a:spcAft>
                <a:spcPts val="0"/>
              </a:spcAft>
              <a:defRPr sz="4800" b="1">
                <a:solidFill>
                  <a:srgbClr val="FFFFFF"/>
                </a:solidFill>
                <a:latin typeface="Calibri"/>
              </a:defRPr>
            </a:pPr>
            <a:r>
              <a:t>Computer Organization Project</a:t>
            </a:r>
          </a:p>
        </p:txBody>
      </p:sp>
      <p:sp>
        <p:nvSpPr>
          <p:cNvPr id="3" name="Course"/>
          <p:cNvSpPr txBox="1"/>
          <p:nvPr/>
        </p:nvSpPr>
        <p:spPr>
          <a:xfrm>
            <a:off x="457200" y="1920240"/>
            <a:ext cx="8229600" cy="457200"/>
          </a:xfrm>
          <a:prstGeom prst="rect">
            <a:avLst/>
          </a:prstGeom>
          <a:noFill/>
        </p:spPr>
        <p:txBody>
          <a:bodyPr wrap="square" lIns="0" rIns="0" tIns="0" bIns="0" anchor="t">
            <a:noAutofit/>
          </a:bodyPr>
          <a:lstStyle/>
          <a:p>
            <a:pPr algn="ctr">
              <a:lnSpc>
                <a:spcPts val="3360"/>
              </a:lnSpc>
              <a:spcBef>
                <a:spcPts val="0"/>
              </a:spcBef>
              <a:spcAft>
                <a:spcPts val="0"/>
              </a:spcAft>
              <a:defRPr sz="2800" b="0">
                <a:solidFill>
                  <a:srgbClr val="FFFFFF"/>
                </a:solidFill>
                <a:latin typeface="Calibri"/>
              </a:defRPr>
            </a:pPr>
            <a:r>
              <a:t>BSC/ITE 104</a:t>
            </a:r>
          </a:p>
        </p:txBody>
      </p:sp>
      <p:sp>
        <p:nvSpPr>
          <p:cNvPr id="4" name="Project topic"/>
          <p:cNvSpPr txBox="1"/>
          <p:nvPr/>
        </p:nvSpPr>
        <p:spPr>
          <a:xfrm>
            <a:off x="457200" y="2496312"/>
            <a:ext cx="8229600" cy="365760"/>
          </a:xfrm>
          <a:prstGeom prst="rect">
            <a:avLst/>
          </a:prstGeom>
          <a:noFill/>
        </p:spPr>
        <p:txBody>
          <a:bodyPr wrap="square" lIns="0" rIns="0" tIns="0" bIns="0" anchor="t">
            <a:noAutofit/>
          </a:bodyPr>
          <a:lstStyle/>
          <a:p>
            <a:pPr algn="ctr">
              <a:lnSpc>
                <a:spcPts val="2400"/>
              </a:lnSpc>
              <a:spcBef>
                <a:spcPts val="0"/>
              </a:spcBef>
              <a:spcAft>
                <a:spcPts val="0"/>
              </a:spcAft>
              <a:defRPr sz="2000" b="0">
                <a:solidFill>
                  <a:srgbClr val="FFFFFF"/>
                </a:solidFill>
                <a:latin typeface="Calibri"/>
              </a:defRPr>
            </a:pPr>
            <a:r>
              <a:t>CPU instruction execution: image brightness</a:t>
            </a:r>
          </a:p>
        </p:txBody>
      </p:sp>
      <p:sp>
        <p:nvSpPr>
          <p:cNvPr id="5" name="Student fields"/>
          <p:cNvSpPr txBox="1"/>
          <p:nvPr/>
        </p:nvSpPr>
        <p:spPr>
          <a:xfrm>
            <a:off x="1828800" y="3200400"/>
            <a:ext cx="5486400" cy="1097280"/>
          </a:xfrm>
          <a:prstGeom prst="rect">
            <a:avLst/>
          </a:prstGeom>
          <a:noFill/>
        </p:spPr>
        <p:txBody>
          <a:bodyPr wrap="square" lIns="0" rIns="0" tIns="0" bIns="0" anchor="t">
            <a:noAutofit/>
          </a:bodyPr>
          <a:lstStyle/>
          <a:p>
            <a:pPr>
              <a:lnSpc>
                <a:spcPts val="1680"/>
              </a:lnSpc>
              <a:spcBef>
                <a:spcPts val="0"/>
              </a:spcBef>
              <a:spcAft>
                <a:spcPts val="0"/>
              </a:spcAft>
              <a:defRPr sz="1400" b="0">
                <a:solidFill>
                  <a:srgbClr val="FFFFFF"/>
                </a:solidFill>
                <a:latin typeface="Calibri"/>
              </a:defRPr>
            </a:pPr>
            <a:r>
              <a:t>Student Name: Khin Thant Zin / Wai Yan Min Thu</a:t>
            </a:r>
          </a:p>
          <a:p>
            <a:pPr>
              <a:lnSpc>
                <a:spcPts val="1680"/>
              </a:lnSpc>
              <a:spcBef>
                <a:spcPts val="0"/>
              </a:spcBef>
              <a:spcAft>
                <a:spcPts val="0"/>
              </a:spcAft>
              <a:defRPr sz="1400" b="0">
                <a:solidFill>
                  <a:srgbClr val="FFFFFF"/>
                </a:solidFill>
                <a:latin typeface="Calibri"/>
              </a:defRPr>
            </a:pPr>
            <a:r>
              <a:t>Student ID: 2512220004 / 2512220006</a:t>
            </a:r>
          </a:p>
          <a:p>
            <a:pPr>
              <a:lnSpc>
                <a:spcPts val="1680"/>
              </a:lnSpc>
              <a:spcBef>
                <a:spcPts val="0"/>
              </a:spcBef>
              <a:spcAft>
                <a:spcPts val="0"/>
              </a:spcAft>
              <a:defRPr sz="1400" b="0">
                <a:solidFill>
                  <a:srgbClr val="FFFFFF"/>
                </a:solidFill>
                <a:latin typeface="Calibri"/>
              </a:defRPr>
            </a:pPr>
            <a:r>
              <a:t>Submission Date: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3600" b="1" dirty="0">
                <a:solidFill>
                  <a:srgbClr val="667EEA"/>
                </a:solidFill>
                <a:latin typeface="Calibri" pitchFamily="34" charset="0"/>
                <a:ea typeface="Calibri" pitchFamily="34" charset="-122"/>
                <a:cs typeface="Calibri" pitchFamily="34" charset="-120"/>
              </a:rPr>
              <a:t>Introduction &amp; Objectives</a:t>
            </a:r>
            <a:endParaRPr lang="en-US" sz="3600" dirty="0"/>
          </a:p>
        </p:txBody>
      </p:sp>
      <p:sp>
        <p:nvSpPr>
          <p:cNvPr id="3" name="Shape 1"/>
          <p:cNvSpPr/>
          <p:nvPr/>
        </p:nvSpPr>
        <p:spPr>
          <a:xfrm>
            <a:off x="457200" y="777240"/>
            <a:ext cx="8229600" cy="18288"/>
          </a:xfrm>
          <a:prstGeom prst="rect">
            <a:avLst/>
          </a:prstGeom>
          <a:solidFill>
            <a:srgbClr val="667EEA"/>
          </a:solidFill>
          <a:ln/>
        </p:spPr>
      </p:sp>
      <p:sp>
        <p:nvSpPr>
          <p:cNvPr id="4" name="Slide number"/>
          <p:cNvSpPr txBox="1"/>
          <p:nvPr/>
        </p:nvSpPr>
        <p:spPr>
          <a:xfrm>
            <a:off x="8183879" y="4773168"/>
            <a:ext cx="457200" cy="246888"/>
          </a:xfrm>
          <a:prstGeom prst="rect">
            <a:avLst/>
          </a:prstGeom>
          <a:noFill/>
        </p:spPr>
        <p:txBody>
          <a:bodyPr wrap="square" lIns="0" rIns="0" tIns="0" bIns="0" anchor="t">
            <a:noAutofit/>
          </a:bodyPr>
          <a:lstStyle/>
          <a:p>
            <a:pPr algn="ctr">
              <a:lnSpc>
                <a:spcPts val="1680"/>
              </a:lnSpc>
              <a:spcBef>
                <a:spcPts val="0"/>
              </a:spcBef>
              <a:spcAft>
                <a:spcPts val="0"/>
              </a:spcAft>
              <a:defRPr sz="1400" b="0">
                <a:solidFill>
                  <a:srgbClr val="536079"/>
                </a:solidFill>
                <a:latin typeface="Calibri"/>
              </a:defRPr>
            </a:pPr>
            <a:r>
              <a:t>2</a:t>
            </a:r>
          </a:p>
        </p:txBody>
      </p:sp>
      <p:sp>
        <p:nvSpPr>
          <p:cNvPr id="5" name="Overview label"/>
          <p:cNvSpPr txBox="1"/>
          <p:nvPr/>
        </p:nvSpPr>
        <p:spPr>
          <a:xfrm>
            <a:off x="502920" y="1051560"/>
            <a:ext cx="4251960" cy="320040"/>
          </a:xfrm>
          <a:prstGeom prst="rect">
            <a:avLst/>
          </a:prstGeom>
          <a:noFill/>
        </p:spPr>
        <p:txBody>
          <a:bodyPr wrap="square" lIns="0" rIns="0" tIns="0" bIns="0" anchor="t">
            <a:noAutofit/>
          </a:bodyPr>
          <a:lstStyle/>
          <a:p>
            <a:pPr>
              <a:lnSpc>
                <a:spcPts val="2160"/>
              </a:lnSpc>
              <a:spcBef>
                <a:spcPts val="0"/>
              </a:spcBef>
              <a:spcAft>
                <a:spcPts val="0"/>
              </a:spcAft>
              <a:defRPr sz="1800" b="1">
                <a:solidFill>
                  <a:srgbClr val="25324B"/>
                </a:solidFill>
                <a:latin typeface="Calibri"/>
              </a:defRPr>
            </a:pPr>
            <a:r>
              <a:t>Project overview</a:t>
            </a:r>
          </a:p>
        </p:txBody>
      </p:sp>
      <p:sp>
        <p:nvSpPr>
          <p:cNvPr id="6" name="Overview"/>
          <p:cNvSpPr txBox="1"/>
          <p:nvPr/>
        </p:nvSpPr>
        <p:spPr>
          <a:xfrm>
            <a:off x="502920" y="1508760"/>
            <a:ext cx="4251960" cy="777240"/>
          </a:xfrm>
          <a:prstGeom prst="rect">
            <a:avLst/>
          </a:prstGeom>
          <a:noFill/>
        </p:spPr>
        <p:txBody>
          <a:bodyPr wrap="square" lIns="0" rIns="0" tIns="0" bIns="0" anchor="t">
            <a:noAutofit/>
          </a:bodyPr>
          <a:lstStyle/>
          <a:p>
            <a:pPr>
              <a:lnSpc>
                <a:spcPts val="2160"/>
              </a:lnSpc>
              <a:spcBef>
                <a:spcPts val="0"/>
              </a:spcBef>
              <a:spcAft>
                <a:spcPts val="0"/>
              </a:spcAft>
              <a:defRPr sz="1800" b="0">
                <a:solidFill>
                  <a:srgbClr val="25324B"/>
                </a:solidFill>
                <a:latin typeface="Calibri"/>
              </a:defRPr>
            </a:pPr>
            <a:r>
              <a:t>A 16-pixel loop exposes instruction costs, cache misses and branch predictions.</a:t>
            </a:r>
          </a:p>
        </p:txBody>
      </p:sp>
      <p:sp>
        <p:nvSpPr>
          <p:cNvPr id="7" name="Objectives label"/>
          <p:cNvSpPr txBox="1"/>
          <p:nvPr/>
        </p:nvSpPr>
        <p:spPr>
          <a:xfrm>
            <a:off x="502920" y="2560320"/>
            <a:ext cx="4251960" cy="320040"/>
          </a:xfrm>
          <a:prstGeom prst="rect">
            <a:avLst/>
          </a:prstGeom>
          <a:noFill/>
        </p:spPr>
        <p:txBody>
          <a:bodyPr wrap="square" lIns="0" rIns="0" tIns="0" bIns="0" anchor="t">
            <a:noAutofit/>
          </a:bodyPr>
          <a:lstStyle/>
          <a:p>
            <a:pPr>
              <a:lnSpc>
                <a:spcPts val="2160"/>
              </a:lnSpc>
              <a:spcBef>
                <a:spcPts val="0"/>
              </a:spcBef>
              <a:spcAft>
                <a:spcPts val="0"/>
              </a:spcAft>
              <a:defRPr sz="1800" b="1">
                <a:solidFill>
                  <a:srgbClr val="25324B"/>
                </a:solidFill>
                <a:latin typeface="Calibri"/>
              </a:defRPr>
            </a:pPr>
            <a:r>
              <a:t>Key objectives</a:t>
            </a:r>
          </a:p>
        </p:txBody>
      </p:sp>
      <p:sp>
        <p:nvSpPr>
          <p:cNvPr id="8" name="Objectives"/>
          <p:cNvSpPr txBox="1"/>
          <p:nvPr/>
        </p:nvSpPr>
        <p:spPr>
          <a:xfrm>
            <a:off x="502920" y="3063240"/>
            <a:ext cx="4297680" cy="1188720"/>
          </a:xfrm>
          <a:prstGeom prst="rect">
            <a:avLst/>
          </a:prstGeom>
          <a:noFill/>
        </p:spPr>
        <p:txBody>
          <a:bodyPr wrap="square" lIns="0" rIns="0" tIns="0" bIns="0" anchor="t">
            <a:noAutofit/>
          </a:bodyPr>
          <a:lstStyle/>
          <a:p>
            <a:pPr>
              <a:lnSpc>
                <a:spcPts val="2160"/>
              </a:lnSpc>
              <a:spcBef>
                <a:spcPts val="0"/>
              </a:spcBef>
              <a:spcAft>
                <a:spcPts val="0"/>
              </a:spcAft>
              <a:defRPr sz="1800" b="0">
                <a:solidFill>
                  <a:srgbClr val="25324B"/>
                </a:solidFill>
                <a:latin typeface="Calibri"/>
              </a:defRPr>
            </a:pPr>
            <a:r>
              <a:t>• Trace fetch, decode and execute behavior.</a:t>
            </a:r>
          </a:p>
          <a:p>
            <a:pPr>
              <a:lnSpc>
                <a:spcPts val="2160"/>
              </a:lnSpc>
              <a:spcBef>
                <a:spcPts val="0"/>
              </a:spcBef>
              <a:spcAft>
                <a:spcPts val="0"/>
              </a:spcAft>
              <a:defRPr sz="1800" b="0">
                <a:solidFill>
                  <a:srgbClr val="25324B"/>
                </a:solidFill>
                <a:latin typeface="Calibri"/>
              </a:defRPr>
            </a:pPr>
            <a:r>
              <a:t>• Explain cycles and random delays.</a:t>
            </a:r>
          </a:p>
          <a:p>
            <a:pPr>
              <a:lnSpc>
                <a:spcPts val="2160"/>
              </a:lnSpc>
              <a:spcBef>
                <a:spcPts val="0"/>
              </a:spcBef>
              <a:spcAft>
                <a:spcPts val="0"/>
              </a:spcAft>
              <a:defRPr sz="1800" b="0">
                <a:solidFill>
                  <a:srgbClr val="25324B"/>
                </a:solidFill>
                <a:latin typeface="Calibri"/>
              </a:defRPr>
            </a:pPr>
            <a:r>
              <a:t>• Compare four instruction-level rewrites.</a:t>
            </a:r>
          </a:p>
        </p:txBody>
      </p:sp>
      <p:sp>
        <p:nvSpPr>
          <p:cNvPr id="9" name="Dark input: p &lt; 128"/>
          <p:cNvSpPr/>
          <p:nvPr/>
        </p:nvSpPr>
        <p:spPr>
          <a:xfrm>
            <a:off x="5120640" y="1234440"/>
            <a:ext cx="3520440" cy="960120"/>
          </a:xfrm>
          <a:prstGeom prst="rect">
            <a:avLst/>
          </a:prstGeom>
          <a:solidFill>
            <a:srgbClr val="F0F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ark input: p &lt; 128 heading"/>
          <p:cNvSpPr txBox="1"/>
          <p:nvPr/>
        </p:nvSpPr>
        <p:spPr>
          <a:xfrm>
            <a:off x="5303520" y="1353312"/>
            <a:ext cx="3154680" cy="274320"/>
          </a:xfrm>
          <a:prstGeom prst="rect">
            <a:avLst/>
          </a:prstGeom>
          <a:noFill/>
        </p:spPr>
        <p:txBody>
          <a:bodyPr wrap="square" lIns="0" rIns="0" tIns="0" bIns="0" anchor="t">
            <a:noAutofit/>
          </a:bodyPr>
          <a:lstStyle/>
          <a:p>
            <a:pPr>
              <a:lnSpc>
                <a:spcPts val="1920"/>
              </a:lnSpc>
              <a:spcBef>
                <a:spcPts val="0"/>
              </a:spcBef>
              <a:spcAft>
                <a:spcPts val="0"/>
              </a:spcAft>
              <a:defRPr sz="1600" b="1">
                <a:solidFill>
                  <a:srgbClr val="764BA2"/>
                </a:solidFill>
                <a:latin typeface="Calibri"/>
              </a:defRPr>
            </a:pPr>
            <a:r>
              <a:t>Dark input: p &lt; 128</a:t>
            </a:r>
          </a:p>
        </p:txBody>
      </p:sp>
      <p:sp>
        <p:nvSpPr>
          <p:cNvPr id="11" name="Dark input: p &lt; 128 result"/>
          <p:cNvSpPr txBox="1"/>
          <p:nvPr/>
        </p:nvSpPr>
        <p:spPr>
          <a:xfrm>
            <a:off x="5303520" y="1719072"/>
            <a:ext cx="3154680" cy="320040"/>
          </a:xfrm>
          <a:prstGeom prst="rect">
            <a:avLst/>
          </a:prstGeom>
          <a:noFill/>
        </p:spPr>
        <p:txBody>
          <a:bodyPr wrap="square" lIns="0" rIns="0" tIns="0" bIns="0" anchor="t">
            <a:noAutofit/>
          </a:bodyPr>
          <a:lstStyle/>
          <a:p>
            <a:pPr>
              <a:lnSpc>
                <a:spcPts val="2400"/>
              </a:lnSpc>
              <a:spcBef>
                <a:spcPts val="0"/>
              </a:spcBef>
              <a:spcAft>
                <a:spcPts val="0"/>
              </a:spcAft>
              <a:defRPr sz="2000" b="0">
                <a:solidFill>
                  <a:srgbClr val="25324B"/>
                </a:solidFill>
                <a:latin typeface="Calibri"/>
              </a:defRPr>
            </a:pPr>
            <a:r>
              <a:t>Output = p + 32</a:t>
            </a:r>
          </a:p>
        </p:txBody>
      </p:sp>
      <p:sp>
        <p:nvSpPr>
          <p:cNvPr id="12" name="Bright input: p ≥ 128"/>
          <p:cNvSpPr/>
          <p:nvPr/>
        </p:nvSpPr>
        <p:spPr>
          <a:xfrm>
            <a:off x="5120640" y="2423160"/>
            <a:ext cx="3520440" cy="960120"/>
          </a:xfrm>
          <a:prstGeom prst="rect">
            <a:avLst/>
          </a:prstGeom>
          <a:solidFill>
            <a:srgbClr val="F0F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right input: p ≥ 128 heading"/>
          <p:cNvSpPr txBox="1"/>
          <p:nvPr/>
        </p:nvSpPr>
        <p:spPr>
          <a:xfrm>
            <a:off x="5303520" y="2542032"/>
            <a:ext cx="3154680" cy="274320"/>
          </a:xfrm>
          <a:prstGeom prst="rect">
            <a:avLst/>
          </a:prstGeom>
          <a:noFill/>
        </p:spPr>
        <p:txBody>
          <a:bodyPr wrap="square" lIns="0" rIns="0" tIns="0" bIns="0" anchor="t">
            <a:noAutofit/>
          </a:bodyPr>
          <a:lstStyle/>
          <a:p>
            <a:pPr>
              <a:lnSpc>
                <a:spcPts val="1920"/>
              </a:lnSpc>
              <a:spcBef>
                <a:spcPts val="0"/>
              </a:spcBef>
              <a:spcAft>
                <a:spcPts val="0"/>
              </a:spcAft>
              <a:defRPr sz="1600" b="1">
                <a:solidFill>
                  <a:srgbClr val="764BA2"/>
                </a:solidFill>
                <a:latin typeface="Calibri"/>
              </a:defRPr>
            </a:pPr>
            <a:r>
              <a:t>Bright input: p ≥ 128</a:t>
            </a:r>
          </a:p>
        </p:txBody>
      </p:sp>
      <p:sp>
        <p:nvSpPr>
          <p:cNvPr id="14" name="Bright input: p ≥ 128 result"/>
          <p:cNvSpPr txBox="1"/>
          <p:nvPr/>
        </p:nvSpPr>
        <p:spPr>
          <a:xfrm>
            <a:off x="5303520" y="2907791"/>
            <a:ext cx="3154680" cy="320040"/>
          </a:xfrm>
          <a:prstGeom prst="rect">
            <a:avLst/>
          </a:prstGeom>
          <a:noFill/>
        </p:spPr>
        <p:txBody>
          <a:bodyPr wrap="square" lIns="0" rIns="0" tIns="0" bIns="0" anchor="t">
            <a:noAutofit/>
          </a:bodyPr>
          <a:lstStyle/>
          <a:p>
            <a:pPr>
              <a:lnSpc>
                <a:spcPts val="2400"/>
              </a:lnSpc>
              <a:spcBef>
                <a:spcPts val="0"/>
              </a:spcBef>
              <a:spcAft>
                <a:spcPts val="0"/>
              </a:spcAft>
              <a:defRPr sz="2000" b="0">
                <a:solidFill>
                  <a:srgbClr val="25324B"/>
                </a:solidFill>
                <a:latin typeface="Calibri"/>
              </a:defRPr>
            </a:pPr>
            <a:r>
              <a:t>Output = p − 8</a:t>
            </a:r>
          </a:p>
        </p:txBody>
      </p:sp>
      <p:sp>
        <p:nvSpPr>
          <p:cNvPr id="15" name="Application"/>
          <p:cNvSpPr txBox="1"/>
          <p:nvPr/>
        </p:nvSpPr>
        <p:spPr>
          <a:xfrm>
            <a:off x="5120640" y="3767328"/>
            <a:ext cx="3520440" cy="658368"/>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Application: brightness adjustment in edge photo-processing batches.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3600" b="1" dirty="0">
                <a:solidFill>
                  <a:srgbClr val="667EEA"/>
                </a:solidFill>
                <a:latin typeface="Calibri" pitchFamily="34" charset="0"/>
                <a:ea typeface="Calibri" pitchFamily="34" charset="-122"/>
                <a:cs typeface="Calibri" pitchFamily="34" charset="-120"/>
              </a:rPr>
              <a:t>Simulator Setup &amp; Configuration</a:t>
            </a:r>
            <a:endParaRPr lang="en-US" sz="3600" dirty="0"/>
          </a:p>
        </p:txBody>
      </p:sp>
      <p:sp>
        <p:nvSpPr>
          <p:cNvPr id="3" name="Shape 1"/>
          <p:cNvSpPr/>
          <p:nvPr/>
        </p:nvSpPr>
        <p:spPr>
          <a:xfrm>
            <a:off x="457200" y="777240"/>
            <a:ext cx="8229600" cy="18288"/>
          </a:xfrm>
          <a:prstGeom prst="rect">
            <a:avLst/>
          </a:prstGeom>
          <a:solidFill>
            <a:srgbClr val="667EEA"/>
          </a:solidFill>
          <a:ln/>
        </p:spPr>
      </p:sp>
      <p:sp>
        <p:nvSpPr>
          <p:cNvPr id="4" name="Slide number"/>
          <p:cNvSpPr txBox="1"/>
          <p:nvPr/>
        </p:nvSpPr>
        <p:spPr>
          <a:xfrm>
            <a:off x="8183879" y="4773168"/>
            <a:ext cx="457200" cy="246888"/>
          </a:xfrm>
          <a:prstGeom prst="rect">
            <a:avLst/>
          </a:prstGeom>
          <a:noFill/>
        </p:spPr>
        <p:txBody>
          <a:bodyPr wrap="square" lIns="0" rIns="0" tIns="0" bIns="0" anchor="t">
            <a:noAutofit/>
          </a:bodyPr>
          <a:lstStyle/>
          <a:p>
            <a:pPr algn="ctr">
              <a:lnSpc>
                <a:spcPts val="1680"/>
              </a:lnSpc>
              <a:spcBef>
                <a:spcPts val="0"/>
              </a:spcBef>
              <a:spcAft>
                <a:spcPts val="0"/>
              </a:spcAft>
              <a:defRPr sz="1400" b="0">
                <a:solidFill>
                  <a:srgbClr val="536079"/>
                </a:solidFill>
                <a:latin typeface="Calibri"/>
              </a:defRPr>
            </a:pPr>
            <a:r>
              <a:t>3</a:t>
            </a:r>
          </a:p>
        </p:txBody>
      </p:sp>
      <p:sp>
        <p:nvSpPr>
          <p:cNvPr id="5" name="Simulator name"/>
          <p:cNvSpPr txBox="1"/>
          <p:nvPr/>
        </p:nvSpPr>
        <p:spPr>
          <a:xfrm>
            <a:off x="502920" y="1024128"/>
            <a:ext cx="8138160" cy="320040"/>
          </a:xfrm>
          <a:prstGeom prst="rect">
            <a:avLst/>
          </a:prstGeom>
          <a:noFill/>
        </p:spPr>
        <p:txBody>
          <a:bodyPr wrap="square" lIns="0" rIns="0" tIns="0" bIns="0" anchor="t">
            <a:noAutofit/>
          </a:bodyPr>
          <a:lstStyle/>
          <a:p>
            <a:pPr>
              <a:lnSpc>
                <a:spcPts val="2160"/>
              </a:lnSpc>
              <a:spcBef>
                <a:spcPts val="0"/>
              </a:spcBef>
              <a:spcAft>
                <a:spcPts val="0"/>
              </a:spcAft>
              <a:defRPr sz="1800" b="1">
                <a:solidFill>
                  <a:srgbClr val="25324B"/>
                </a:solidFill>
                <a:latin typeface="Calibri"/>
              </a:defRPr>
            </a:pPr>
            <a:r>
              <a:t>Simulator: Project 1 CPU Instruction Simulator</a:t>
            </a:r>
          </a:p>
        </p:txBody>
      </p:sp>
      <p:sp>
        <p:nvSpPr>
          <p:cNvPr id="6" name="Configuration"/>
          <p:cNvSpPr txBox="1"/>
          <p:nvPr/>
        </p:nvSpPr>
        <p:spPr>
          <a:xfrm>
            <a:off x="502920" y="1600200"/>
            <a:ext cx="4572000" cy="2651760"/>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 16 pixels; threshold 128; offsets +32 / −8.</a:t>
            </a:r>
          </a:p>
          <a:p>
            <a:pPr>
              <a:lnSpc>
                <a:spcPts val="1920"/>
              </a:lnSpc>
              <a:spcBef>
                <a:spcPts val="0"/>
              </a:spcBef>
              <a:spcAft>
                <a:spcPts val="0"/>
              </a:spcAft>
              <a:defRPr sz="1600" b="0">
                <a:solidFill>
                  <a:srgbClr val="25324B"/>
                </a:solidFill>
                <a:latin typeface="Calibri"/>
              </a:defRPr>
            </a:pPr>
            <a:r>
              <a:t>• Eight displayed registers, R0–R7.</a:t>
            </a:r>
          </a:p>
          <a:p>
            <a:pPr>
              <a:lnSpc>
                <a:spcPts val="1920"/>
              </a:lnSpc>
              <a:spcBef>
                <a:spcPts val="0"/>
              </a:spcBef>
              <a:spcAft>
                <a:spcPts val="0"/>
              </a:spcAft>
              <a:defRPr sz="1600" b="0">
                <a:solidFill>
                  <a:srgbClr val="25324B"/>
                </a:solidFill>
                <a:latin typeface="Calibri"/>
              </a:defRPr>
            </a:pPr>
            <a:r>
              <a:t>• R0: counter; R1: pointer; R3/R4: input/output.</a:t>
            </a:r>
          </a:p>
          <a:p>
            <a:pPr>
              <a:lnSpc>
                <a:spcPts val="1920"/>
              </a:lnSpc>
              <a:spcBef>
                <a:spcPts val="0"/>
              </a:spcBef>
              <a:spcAft>
                <a:spcPts val="0"/>
              </a:spcAft>
              <a:defRPr sz="1600" b="0">
                <a:solidFill>
                  <a:srgbClr val="25324B"/>
                </a:solidFill>
                <a:latin typeface="Calibri"/>
              </a:defRPr>
            </a:pPr>
            <a:r>
              <a:t>• LOAD: 3 cycles on hit, 50 on miss.</a:t>
            </a:r>
          </a:p>
          <a:p>
            <a:pPr>
              <a:lnSpc>
                <a:spcPts val="1920"/>
              </a:lnSpc>
              <a:spcBef>
                <a:spcPts val="0"/>
              </a:spcBef>
              <a:spcAft>
                <a:spcPts val="0"/>
              </a:spcAft>
              <a:defRPr sz="1600" b="0">
                <a:solidFill>
                  <a:srgbClr val="25324B"/>
                </a:solidFill>
                <a:latin typeface="Calibri"/>
              </a:defRPr>
            </a:pPr>
            <a:r>
              <a:t>• Wrong brightness prediction: +15 cycles.</a:t>
            </a:r>
          </a:p>
          <a:p>
            <a:pPr>
              <a:lnSpc>
                <a:spcPts val="1920"/>
              </a:lnSpc>
              <a:spcBef>
                <a:spcPts val="0"/>
              </a:spcBef>
              <a:spcAft>
                <a:spcPts val="0"/>
              </a:spcAft>
              <a:defRPr sz="1600" b="0">
                <a:solidFill>
                  <a:srgbClr val="25324B"/>
                </a:solidFill>
                <a:latin typeface="Calibri"/>
              </a:defRPr>
            </a:pPr>
            <a:r>
              <a:t>• Cache hit chance: 80% per pixel load.</a:t>
            </a:r>
          </a:p>
          <a:p>
            <a:pPr>
              <a:lnSpc>
                <a:spcPts val="1920"/>
              </a:lnSpc>
              <a:spcBef>
                <a:spcPts val="0"/>
              </a:spcBef>
              <a:spcAft>
                <a:spcPts val="0"/>
              </a:spcAft>
              <a:defRPr sz="1600" b="0">
                <a:solidFill>
                  <a:srgbClr val="25324B"/>
                </a:solidFill>
                <a:latin typeface="Calibri"/>
              </a:defRPr>
            </a:pPr>
            <a:r>
              <a:t>• Animation delay does not change cycles.</a:t>
            </a:r>
          </a:p>
        </p:txBody>
      </p:sp>
      <p:pic>
        <p:nvPicPr>
          <p:cNvPr id="7" name="Actual register screenshot" descr="setup_registers.png"/>
          <p:cNvPicPr>
            <a:picLocks noChangeAspect="1"/>
          </p:cNvPicPr>
          <p:nvPr/>
        </p:nvPicPr>
        <p:blipFill>
          <a:blip r:embed="rId3"/>
          <a:stretch>
            <a:fillRect/>
          </a:stretch>
        </p:blipFill>
        <p:spPr>
          <a:xfrm>
            <a:off x="5567640" y="1691640"/>
            <a:ext cx="2772742" cy="2468880"/>
          </a:xfrm>
          <a:prstGeom prst="rect">
            <a:avLst/>
          </a:prstGeom>
        </p:spPr>
      </p:pic>
      <p:sp>
        <p:nvSpPr>
          <p:cNvPr id="8" name="Setup screenshot caption"/>
          <p:cNvSpPr txBox="1"/>
          <p:nvPr/>
        </p:nvSpPr>
        <p:spPr>
          <a:xfrm>
            <a:off x="5349240" y="4279392"/>
            <a:ext cx="3291840" cy="493776"/>
          </a:xfrm>
          <a:prstGeom prst="rect">
            <a:avLst/>
          </a:prstGeom>
          <a:noFill/>
        </p:spPr>
        <p:txBody>
          <a:bodyPr wrap="square" lIns="0" rIns="0" tIns="0" bIns="0" anchor="t">
            <a:noAutofit/>
          </a:bodyPr>
          <a:lstStyle/>
          <a:p>
            <a:pPr>
              <a:lnSpc>
                <a:spcPts val="1680"/>
              </a:lnSpc>
              <a:spcBef>
                <a:spcPts val="0"/>
              </a:spcBef>
              <a:spcAft>
                <a:spcPts val="0"/>
              </a:spcAft>
              <a:defRPr sz="1400" b="0">
                <a:solidFill>
                  <a:srgbClr val="536079"/>
                </a:solidFill>
                <a:latin typeface="Calibri"/>
              </a:defRPr>
            </a:pPr>
            <a:r>
              <a:t>E3 after pixel 1: 35 → 67.</a:t>
            </a:r>
          </a:p>
          <a:p>
            <a:pPr>
              <a:lnSpc>
                <a:spcPts val="1680"/>
              </a:lnSpc>
              <a:spcBef>
                <a:spcPts val="0"/>
              </a:spcBef>
              <a:spcAft>
                <a:spcPts val="0"/>
              </a:spcAft>
              <a:defRPr sz="1400" b="0">
                <a:solidFill>
                  <a:srgbClr val="536079"/>
                </a:solidFill>
                <a:latin typeface="Calibri"/>
              </a:defRPr>
            </a:pPr>
            <a:r>
              <a:t>Captured register-panel crop.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3600" b="1" dirty="0">
                <a:solidFill>
                  <a:srgbClr val="667EEA"/>
                </a:solidFill>
                <a:latin typeface="Calibri" pitchFamily="34" charset="0"/>
                <a:ea typeface="Calibri" pitchFamily="34" charset="-122"/>
                <a:cs typeface="Calibri" pitchFamily="34" charset="-120"/>
              </a:rPr>
              <a:t>Experimental Methodology</a:t>
            </a:r>
            <a:endParaRPr lang="en-US" sz="3600" dirty="0"/>
          </a:p>
        </p:txBody>
      </p:sp>
      <p:sp>
        <p:nvSpPr>
          <p:cNvPr id="3" name="Shape 1"/>
          <p:cNvSpPr/>
          <p:nvPr/>
        </p:nvSpPr>
        <p:spPr>
          <a:xfrm>
            <a:off x="457200" y="777240"/>
            <a:ext cx="8229600" cy="18288"/>
          </a:xfrm>
          <a:prstGeom prst="rect">
            <a:avLst/>
          </a:prstGeom>
          <a:solidFill>
            <a:srgbClr val="667EEA"/>
          </a:solidFill>
          <a:ln/>
        </p:spPr>
      </p:sp>
      <p:sp>
        <p:nvSpPr>
          <p:cNvPr id="4" name="Slide number"/>
          <p:cNvSpPr txBox="1"/>
          <p:nvPr/>
        </p:nvSpPr>
        <p:spPr>
          <a:xfrm>
            <a:off x="8183879" y="4773168"/>
            <a:ext cx="457200" cy="246888"/>
          </a:xfrm>
          <a:prstGeom prst="rect">
            <a:avLst/>
          </a:prstGeom>
          <a:noFill/>
        </p:spPr>
        <p:txBody>
          <a:bodyPr wrap="square" lIns="0" rIns="0" tIns="0" bIns="0" anchor="t">
            <a:noAutofit/>
          </a:bodyPr>
          <a:lstStyle/>
          <a:p>
            <a:pPr algn="ctr">
              <a:lnSpc>
                <a:spcPts val="1680"/>
              </a:lnSpc>
              <a:spcBef>
                <a:spcPts val="0"/>
              </a:spcBef>
              <a:spcAft>
                <a:spcPts val="0"/>
              </a:spcAft>
              <a:defRPr sz="1400" b="0">
                <a:solidFill>
                  <a:srgbClr val="536079"/>
                </a:solidFill>
                <a:latin typeface="Calibri"/>
              </a:defRPr>
            </a:pPr>
            <a:r>
              <a:t>4</a:t>
            </a:r>
          </a:p>
        </p:txBody>
      </p:sp>
      <p:sp>
        <p:nvSpPr>
          <p:cNvPr id="5" name="1. Best Case"/>
          <p:cNvSpPr/>
          <p:nvPr/>
        </p:nvSpPr>
        <p:spPr>
          <a:xfrm>
            <a:off x="502920" y="1024128"/>
            <a:ext cx="8138160" cy="630936"/>
          </a:xfrm>
          <a:prstGeom prst="rect">
            <a:avLst/>
          </a:prstGeom>
          <a:solidFill>
            <a:srgbClr val="F0F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1. Best Case label"/>
          <p:cNvSpPr txBox="1"/>
          <p:nvPr/>
        </p:nvSpPr>
        <p:spPr>
          <a:xfrm>
            <a:off x="658368" y="1133856"/>
            <a:ext cx="2011680" cy="365760"/>
          </a:xfrm>
          <a:prstGeom prst="rect">
            <a:avLst/>
          </a:prstGeom>
          <a:noFill/>
        </p:spPr>
        <p:txBody>
          <a:bodyPr wrap="square" lIns="0" rIns="0" tIns="0" bIns="0" anchor="t">
            <a:noAutofit/>
          </a:bodyPr>
          <a:lstStyle/>
          <a:p>
            <a:pPr>
              <a:lnSpc>
                <a:spcPts val="1920"/>
              </a:lnSpc>
              <a:spcBef>
                <a:spcPts val="0"/>
              </a:spcBef>
              <a:spcAft>
                <a:spcPts val="0"/>
              </a:spcAft>
              <a:defRPr sz="1600" b="1">
                <a:solidFill>
                  <a:srgbClr val="764BA2"/>
                </a:solidFill>
                <a:latin typeface="Calibri"/>
              </a:defRPr>
            </a:pPr>
            <a:r>
              <a:t>1. Best Case</a:t>
            </a:r>
          </a:p>
        </p:txBody>
      </p:sp>
      <p:sp>
        <p:nvSpPr>
          <p:cNvPr id="7" name="1. Best Case detail"/>
          <p:cNvSpPr txBox="1"/>
          <p:nvPr/>
        </p:nvSpPr>
        <p:spPr>
          <a:xfrm>
            <a:off x="2770632" y="1143000"/>
            <a:ext cx="5596128" cy="384048"/>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Sixteen zeros: every pixel takes the ADD path.</a:t>
            </a:r>
          </a:p>
        </p:txBody>
      </p:sp>
      <p:sp>
        <p:nvSpPr>
          <p:cNvPr id="8" name="2. Worst Case"/>
          <p:cNvSpPr/>
          <p:nvPr/>
        </p:nvSpPr>
        <p:spPr>
          <a:xfrm>
            <a:off x="502920" y="1773936"/>
            <a:ext cx="8138160" cy="630936"/>
          </a:xfrm>
          <a:prstGeom prst="rect">
            <a:avLst/>
          </a:prstGeom>
          <a:solidFill>
            <a:srgbClr val="F0F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2. Worst Case label"/>
          <p:cNvSpPr txBox="1"/>
          <p:nvPr/>
        </p:nvSpPr>
        <p:spPr>
          <a:xfrm>
            <a:off x="658368" y="1883664"/>
            <a:ext cx="2011680" cy="365760"/>
          </a:xfrm>
          <a:prstGeom prst="rect">
            <a:avLst/>
          </a:prstGeom>
          <a:noFill/>
        </p:spPr>
        <p:txBody>
          <a:bodyPr wrap="square" lIns="0" rIns="0" tIns="0" bIns="0" anchor="t">
            <a:noAutofit/>
          </a:bodyPr>
          <a:lstStyle/>
          <a:p>
            <a:pPr>
              <a:lnSpc>
                <a:spcPts val="1920"/>
              </a:lnSpc>
              <a:spcBef>
                <a:spcPts val="0"/>
              </a:spcBef>
              <a:spcAft>
                <a:spcPts val="0"/>
              </a:spcAft>
              <a:defRPr sz="1600" b="1">
                <a:solidFill>
                  <a:srgbClr val="764BA2"/>
                </a:solidFill>
                <a:latin typeface="Calibri"/>
              </a:defRPr>
            </a:pPr>
            <a:r>
              <a:t>2. Worst Case</a:t>
            </a:r>
          </a:p>
        </p:txBody>
      </p:sp>
      <p:sp>
        <p:nvSpPr>
          <p:cNvPr id="10" name="2. Worst Case detail"/>
          <p:cNvSpPr txBox="1"/>
          <p:nvPr/>
        </p:nvSpPr>
        <p:spPr>
          <a:xfrm>
            <a:off x="2770632" y="1892807"/>
            <a:ext cx="5596128" cy="384048"/>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Alternating 64 / 192: dark and bright paths alternate.</a:t>
            </a:r>
          </a:p>
        </p:txBody>
      </p:sp>
      <p:sp>
        <p:nvSpPr>
          <p:cNvPr id="11" name="3. Real-World Case"/>
          <p:cNvSpPr/>
          <p:nvPr/>
        </p:nvSpPr>
        <p:spPr>
          <a:xfrm>
            <a:off x="502920" y="2523744"/>
            <a:ext cx="8138160" cy="630936"/>
          </a:xfrm>
          <a:prstGeom prst="rect">
            <a:avLst/>
          </a:prstGeom>
          <a:solidFill>
            <a:srgbClr val="F0F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3. Real-World Case label"/>
          <p:cNvSpPr txBox="1"/>
          <p:nvPr/>
        </p:nvSpPr>
        <p:spPr>
          <a:xfrm>
            <a:off x="658368" y="2633472"/>
            <a:ext cx="2011680" cy="365760"/>
          </a:xfrm>
          <a:prstGeom prst="rect">
            <a:avLst/>
          </a:prstGeom>
          <a:noFill/>
        </p:spPr>
        <p:txBody>
          <a:bodyPr wrap="square" lIns="0" rIns="0" tIns="0" bIns="0" anchor="t">
            <a:noAutofit/>
          </a:bodyPr>
          <a:lstStyle/>
          <a:p>
            <a:pPr>
              <a:lnSpc>
                <a:spcPts val="1920"/>
              </a:lnSpc>
              <a:spcBef>
                <a:spcPts val="0"/>
              </a:spcBef>
              <a:spcAft>
                <a:spcPts val="0"/>
              </a:spcAft>
              <a:defRPr sz="1600" b="1">
                <a:solidFill>
                  <a:srgbClr val="764BA2"/>
                </a:solidFill>
                <a:latin typeface="Calibri"/>
              </a:defRPr>
            </a:pPr>
            <a:r>
              <a:t>3. Real-World Case</a:t>
            </a:r>
          </a:p>
        </p:txBody>
      </p:sp>
      <p:sp>
        <p:nvSpPr>
          <p:cNvPr id="13" name="3. Real-World Case detail"/>
          <p:cNvSpPr txBox="1"/>
          <p:nvPr/>
        </p:nvSpPr>
        <p:spPr>
          <a:xfrm>
            <a:off x="2770632" y="2642615"/>
            <a:ext cx="5596128" cy="384048"/>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Indoor: 11 dark / 5 bright. Sunset: 8 bright, then 8 dark.</a:t>
            </a:r>
          </a:p>
        </p:txBody>
      </p:sp>
      <p:sp>
        <p:nvSpPr>
          <p:cNvPr id="14" name="4. Edge Case"/>
          <p:cNvSpPr/>
          <p:nvPr/>
        </p:nvSpPr>
        <p:spPr>
          <a:xfrm>
            <a:off x="502920" y="3273552"/>
            <a:ext cx="8138160" cy="630936"/>
          </a:xfrm>
          <a:prstGeom prst="rect">
            <a:avLst/>
          </a:prstGeom>
          <a:solidFill>
            <a:srgbClr val="F0F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4. Edge Case label"/>
          <p:cNvSpPr txBox="1"/>
          <p:nvPr/>
        </p:nvSpPr>
        <p:spPr>
          <a:xfrm>
            <a:off x="658368" y="3383280"/>
            <a:ext cx="2011680" cy="365760"/>
          </a:xfrm>
          <a:prstGeom prst="rect">
            <a:avLst/>
          </a:prstGeom>
          <a:noFill/>
        </p:spPr>
        <p:txBody>
          <a:bodyPr wrap="square" lIns="0" rIns="0" tIns="0" bIns="0" anchor="t">
            <a:noAutofit/>
          </a:bodyPr>
          <a:lstStyle/>
          <a:p>
            <a:pPr>
              <a:lnSpc>
                <a:spcPts val="1920"/>
              </a:lnSpc>
              <a:spcBef>
                <a:spcPts val="0"/>
              </a:spcBef>
              <a:spcAft>
                <a:spcPts val="0"/>
              </a:spcAft>
              <a:defRPr sz="1600" b="1">
                <a:solidFill>
                  <a:srgbClr val="764BA2"/>
                </a:solidFill>
                <a:latin typeface="Calibri"/>
              </a:defRPr>
            </a:pPr>
            <a:r>
              <a:t>4. Edge Case</a:t>
            </a:r>
          </a:p>
        </p:txBody>
      </p:sp>
      <p:sp>
        <p:nvSpPr>
          <p:cNvPr id="16" name="4. Edge Case detail"/>
          <p:cNvSpPr txBox="1"/>
          <p:nvPr/>
        </p:nvSpPr>
        <p:spPr>
          <a:xfrm>
            <a:off x="2770632" y="3392424"/>
            <a:ext cx="5596128" cy="384048"/>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Calculated checks: 127 → 159; 128 → 120; 0 → 32; 255 → 247.</a:t>
            </a:r>
          </a:p>
        </p:txBody>
      </p:sp>
      <p:sp>
        <p:nvSpPr>
          <p:cNvPr id="17" name="Repetition method"/>
          <p:cNvSpPr txBox="1"/>
          <p:nvPr/>
        </p:nvSpPr>
        <p:spPr>
          <a:xfrm>
            <a:off x="502920" y="4224528"/>
            <a:ext cx="8138160" cy="502920"/>
          </a:xfrm>
          <a:prstGeom prst="rect">
            <a:avLst/>
          </a:prstGeom>
          <a:noFill/>
        </p:spPr>
        <p:txBody>
          <a:bodyPr wrap="square" lIns="0" rIns="0" tIns="0" bIns="0" anchor="t">
            <a:noAutofit/>
          </a:bodyPr>
          <a:lstStyle/>
          <a:p>
            <a:pPr>
              <a:lnSpc>
                <a:spcPts val="1680"/>
              </a:lnSpc>
              <a:spcBef>
                <a:spcPts val="0"/>
              </a:spcBef>
              <a:spcAft>
                <a:spcPts val="0"/>
              </a:spcAft>
              <a:defRPr sz="1400" b="0">
                <a:solidFill>
                  <a:srgbClr val="25324B"/>
                </a:solidFill>
                <a:latin typeface="Calibri"/>
              </a:defRPr>
            </a:pPr>
            <a:r>
              <a:t>Nine illustrated experiments; 40 repeats × 5 programs × 4 cases = 800 benchmark runs.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3600" b="1" dirty="0">
                <a:solidFill>
                  <a:srgbClr val="667EEA"/>
                </a:solidFill>
                <a:latin typeface="Calibri" pitchFamily="34" charset="0"/>
                <a:ea typeface="Calibri" pitchFamily="34" charset="-122"/>
                <a:cs typeface="Calibri" pitchFamily="34" charset="-120"/>
              </a:rPr>
              <a:t>Best Case Experiment</a:t>
            </a:r>
            <a:endParaRPr lang="en-US" sz="3600" dirty="0"/>
          </a:p>
        </p:txBody>
      </p:sp>
      <p:sp>
        <p:nvSpPr>
          <p:cNvPr id="3" name="Shape 1"/>
          <p:cNvSpPr/>
          <p:nvPr/>
        </p:nvSpPr>
        <p:spPr>
          <a:xfrm>
            <a:off x="457200" y="777240"/>
            <a:ext cx="8229600" cy="18288"/>
          </a:xfrm>
          <a:prstGeom prst="rect">
            <a:avLst/>
          </a:prstGeom>
          <a:solidFill>
            <a:srgbClr val="667EEA"/>
          </a:solidFill>
          <a:ln/>
        </p:spPr>
      </p:sp>
      <p:sp>
        <p:nvSpPr>
          <p:cNvPr id="4" name="Slide number"/>
          <p:cNvSpPr txBox="1"/>
          <p:nvPr/>
        </p:nvSpPr>
        <p:spPr>
          <a:xfrm>
            <a:off x="8183879" y="4773168"/>
            <a:ext cx="457200" cy="246888"/>
          </a:xfrm>
          <a:prstGeom prst="rect">
            <a:avLst/>
          </a:prstGeom>
          <a:noFill/>
        </p:spPr>
        <p:txBody>
          <a:bodyPr wrap="square" lIns="0" rIns="0" tIns="0" bIns="0" anchor="t">
            <a:noAutofit/>
          </a:bodyPr>
          <a:lstStyle/>
          <a:p>
            <a:pPr algn="ctr">
              <a:lnSpc>
                <a:spcPts val="1680"/>
              </a:lnSpc>
              <a:spcBef>
                <a:spcPts val="0"/>
              </a:spcBef>
              <a:spcAft>
                <a:spcPts val="0"/>
              </a:spcAft>
              <a:defRPr sz="1400" b="0">
                <a:solidFill>
                  <a:srgbClr val="536079"/>
                </a:solidFill>
                <a:latin typeface="Calibri"/>
              </a:defRPr>
            </a:pPr>
            <a:r>
              <a:t>5</a:t>
            </a:r>
          </a:p>
        </p:txBody>
      </p:sp>
      <p:sp>
        <p:nvSpPr>
          <p:cNvPr id="5" name="Scenario"/>
          <p:cNvSpPr txBox="1"/>
          <p:nvPr/>
        </p:nvSpPr>
        <p:spPr>
          <a:xfrm>
            <a:off x="502920" y="1042415"/>
            <a:ext cx="4114800" cy="365760"/>
          </a:xfrm>
          <a:prstGeom prst="rect">
            <a:avLst/>
          </a:prstGeom>
          <a:noFill/>
        </p:spPr>
        <p:txBody>
          <a:bodyPr wrap="square" lIns="0" rIns="0" tIns="0" bIns="0" anchor="t">
            <a:noAutofit/>
          </a:bodyPr>
          <a:lstStyle/>
          <a:p>
            <a:pPr>
              <a:lnSpc>
                <a:spcPts val="2160"/>
              </a:lnSpc>
              <a:spcBef>
                <a:spcPts val="0"/>
              </a:spcBef>
              <a:spcAft>
                <a:spcPts val="0"/>
              </a:spcAft>
              <a:defRPr sz="1800" b="1">
                <a:solidFill>
                  <a:srgbClr val="25324B"/>
                </a:solidFill>
                <a:latin typeface="Calibri"/>
              </a:defRPr>
            </a:pPr>
            <a:r>
              <a:t>E1: all-dark Best Case</a:t>
            </a:r>
          </a:p>
        </p:txBody>
      </p:sp>
      <p:sp>
        <p:nvSpPr>
          <p:cNvPr id="6" name="Conditions"/>
          <p:cNvSpPr txBox="1"/>
          <p:nvPr/>
        </p:nvSpPr>
        <p:spPr>
          <a:xfrm>
            <a:off x="502920" y="1554480"/>
            <a:ext cx="4069080" cy="502920"/>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Sixteen zero inputs; all outputs are 32.</a:t>
            </a:r>
          </a:p>
        </p:txBody>
      </p:sp>
      <p:sp>
        <p:nvSpPr>
          <p:cNvPr id="7" name="Results"/>
          <p:cNvSpPr txBox="1"/>
          <p:nvPr/>
        </p:nvSpPr>
        <p:spPr>
          <a:xfrm>
            <a:off x="502920" y="2221992"/>
            <a:ext cx="4023360" cy="1234440"/>
          </a:xfrm>
          <a:prstGeom prst="rect">
            <a:avLst/>
          </a:prstGeom>
          <a:noFill/>
        </p:spPr>
        <p:txBody>
          <a:bodyPr wrap="square" lIns="0" rIns="0" tIns="0" bIns="0" anchor="t">
            <a:noAutofit/>
          </a:bodyPr>
          <a:lstStyle/>
          <a:p>
            <a:pPr>
              <a:lnSpc>
                <a:spcPts val="2160"/>
              </a:lnSpc>
              <a:spcBef>
                <a:spcPts val="0"/>
              </a:spcBef>
              <a:spcAft>
                <a:spcPts val="0"/>
              </a:spcAft>
              <a:defRPr sz="1800" b="0">
                <a:solidFill>
                  <a:srgbClr val="25324B"/>
                </a:solidFill>
                <a:latin typeface="Calibri"/>
              </a:defRPr>
            </a:pPr>
            <a:r>
              <a:t>• Total cycles: 366</a:t>
            </a:r>
          </a:p>
          <a:p>
            <a:pPr>
              <a:lnSpc>
                <a:spcPts val="2160"/>
              </a:lnSpc>
              <a:spcBef>
                <a:spcPts val="0"/>
              </a:spcBef>
              <a:spcAft>
                <a:spcPts val="0"/>
              </a:spcAft>
              <a:defRPr sz="1800" b="0">
                <a:solidFill>
                  <a:srgbClr val="25324B"/>
                </a:solidFill>
                <a:latin typeface="Calibri"/>
              </a:defRPr>
            </a:pPr>
            <a:r>
              <a:t>• CPP: 22.88</a:t>
            </a:r>
          </a:p>
          <a:p>
            <a:pPr>
              <a:lnSpc>
                <a:spcPts val="2160"/>
              </a:lnSpc>
              <a:spcBef>
                <a:spcPts val="0"/>
              </a:spcBef>
              <a:spcAft>
                <a:spcPts val="0"/>
              </a:spcAft>
              <a:defRPr sz="1800" b="0">
                <a:solidFill>
                  <a:srgbClr val="25324B"/>
                </a:solidFill>
                <a:latin typeface="Calibri"/>
              </a:defRPr>
            </a:pPr>
            <a:r>
              <a:t>• Cache hits: 81.25%</a:t>
            </a:r>
          </a:p>
          <a:p>
            <a:pPr>
              <a:lnSpc>
                <a:spcPts val="2160"/>
              </a:lnSpc>
              <a:spcBef>
                <a:spcPts val="0"/>
              </a:spcBef>
              <a:spcAft>
                <a:spcPts val="0"/>
              </a:spcAft>
              <a:defRPr sz="1800" b="0">
                <a:solidFill>
                  <a:srgbClr val="25324B"/>
                </a:solidFill>
                <a:latin typeface="Calibri"/>
              </a:defRPr>
            </a:pPr>
            <a:r>
              <a:t>• Correct branches: 31/32</a:t>
            </a:r>
          </a:p>
        </p:txBody>
      </p:sp>
      <p:sp>
        <p:nvSpPr>
          <p:cNvPr id="8" name="Insight background"/>
          <p:cNvSpPr/>
          <p:nvPr/>
        </p:nvSpPr>
        <p:spPr>
          <a:xfrm>
            <a:off x="502920" y="3657600"/>
            <a:ext cx="4069080" cy="932688"/>
          </a:xfrm>
          <a:prstGeom prst="rect">
            <a:avLst/>
          </a:prstGeom>
          <a:solidFill>
            <a:srgbClr val="F0F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ey insight"/>
          <p:cNvSpPr txBox="1"/>
          <p:nvPr/>
        </p:nvSpPr>
        <p:spPr>
          <a:xfrm>
            <a:off x="658368" y="3776472"/>
            <a:ext cx="3767328" cy="713232"/>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Even Best Case can mispredict: the model uses a 95% chance, not a guarantee.</a:t>
            </a:r>
          </a:p>
        </p:txBody>
      </p:sp>
      <p:pic>
        <p:nvPicPr>
          <p:cNvPr id="10" name="Experiment screenshot" descr="best_metrics.png"/>
          <p:cNvPicPr>
            <a:picLocks noChangeAspect="1"/>
          </p:cNvPicPr>
          <p:nvPr/>
        </p:nvPicPr>
        <p:blipFill>
          <a:blip r:embed="rId3"/>
          <a:stretch>
            <a:fillRect/>
          </a:stretch>
        </p:blipFill>
        <p:spPr>
          <a:xfrm>
            <a:off x="4892040" y="1435608"/>
            <a:ext cx="3703320" cy="2641701"/>
          </a:xfrm>
          <a:prstGeom prst="rect">
            <a:avLst/>
          </a:prstGeom>
        </p:spPr>
      </p:pic>
      <p:sp>
        <p:nvSpPr>
          <p:cNvPr id="11" name="Screenshot caption"/>
          <p:cNvSpPr txBox="1"/>
          <p:nvPr/>
        </p:nvSpPr>
        <p:spPr>
          <a:xfrm>
            <a:off x="4892040" y="4206240"/>
            <a:ext cx="3703320" cy="502920"/>
          </a:xfrm>
          <a:prstGeom prst="rect">
            <a:avLst/>
          </a:prstGeom>
          <a:noFill/>
        </p:spPr>
        <p:txBody>
          <a:bodyPr wrap="square" lIns="0" rIns="0" tIns="0" bIns="0" anchor="t">
            <a:noAutofit/>
          </a:bodyPr>
          <a:lstStyle/>
          <a:p>
            <a:pPr>
              <a:lnSpc>
                <a:spcPts val="1680"/>
              </a:lnSpc>
              <a:spcBef>
                <a:spcPts val="0"/>
              </a:spcBef>
              <a:spcAft>
                <a:spcPts val="0"/>
              </a:spcAft>
              <a:defRPr sz="1400" b="0">
                <a:solidFill>
                  <a:srgbClr val="536079"/>
                </a:solidFill>
                <a:latin typeface="Calibri"/>
              </a:defRPr>
            </a:pPr>
            <a:r>
              <a:t>Recorded performance and cache panels;</a:t>
            </a:r>
          </a:p>
          <a:p>
            <a:pPr>
              <a:lnSpc>
                <a:spcPts val="1680"/>
              </a:lnSpc>
              <a:spcBef>
                <a:spcPts val="0"/>
              </a:spcBef>
              <a:spcAft>
                <a:spcPts val="0"/>
              </a:spcAft>
              <a:defRPr sz="1400" b="0">
                <a:solidFill>
                  <a:srgbClr val="536079"/>
                </a:solidFill>
                <a:latin typeface="Calibri"/>
              </a:defRPr>
            </a:pPr>
            <a:r>
              <a:t>regions cropped from one screenshot.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3600" b="1" dirty="0">
                <a:solidFill>
                  <a:srgbClr val="667EEA"/>
                </a:solidFill>
                <a:latin typeface="Calibri" pitchFamily="34" charset="0"/>
                <a:ea typeface="Calibri" pitchFamily="34" charset="-122"/>
                <a:cs typeface="Calibri" pitchFamily="34" charset="-120"/>
              </a:rPr>
              <a:t>Worst Case Experiment</a:t>
            </a:r>
            <a:endParaRPr lang="en-US" sz="3600" dirty="0"/>
          </a:p>
        </p:txBody>
      </p:sp>
      <p:sp>
        <p:nvSpPr>
          <p:cNvPr id="3" name="Shape 1"/>
          <p:cNvSpPr/>
          <p:nvPr/>
        </p:nvSpPr>
        <p:spPr>
          <a:xfrm>
            <a:off x="457200" y="777240"/>
            <a:ext cx="8229600" cy="18288"/>
          </a:xfrm>
          <a:prstGeom prst="rect">
            <a:avLst/>
          </a:prstGeom>
          <a:solidFill>
            <a:srgbClr val="667EEA"/>
          </a:solidFill>
          <a:ln/>
        </p:spPr>
      </p:sp>
      <p:sp>
        <p:nvSpPr>
          <p:cNvPr id="4" name="Slide number"/>
          <p:cNvSpPr txBox="1"/>
          <p:nvPr/>
        </p:nvSpPr>
        <p:spPr>
          <a:xfrm>
            <a:off x="8183879" y="4773168"/>
            <a:ext cx="457200" cy="246888"/>
          </a:xfrm>
          <a:prstGeom prst="rect">
            <a:avLst/>
          </a:prstGeom>
          <a:noFill/>
        </p:spPr>
        <p:txBody>
          <a:bodyPr wrap="square" lIns="0" rIns="0" tIns="0" bIns="0" anchor="t">
            <a:noAutofit/>
          </a:bodyPr>
          <a:lstStyle/>
          <a:p>
            <a:pPr algn="ctr">
              <a:lnSpc>
                <a:spcPts val="1680"/>
              </a:lnSpc>
              <a:spcBef>
                <a:spcPts val="0"/>
              </a:spcBef>
              <a:spcAft>
                <a:spcPts val="0"/>
              </a:spcAft>
              <a:defRPr sz="1400" b="0">
                <a:solidFill>
                  <a:srgbClr val="536079"/>
                </a:solidFill>
                <a:latin typeface="Calibri"/>
              </a:defRPr>
            </a:pPr>
            <a:r>
              <a:t>6</a:t>
            </a:r>
          </a:p>
        </p:txBody>
      </p:sp>
      <p:sp>
        <p:nvSpPr>
          <p:cNvPr id="5" name="Scenario"/>
          <p:cNvSpPr txBox="1"/>
          <p:nvPr/>
        </p:nvSpPr>
        <p:spPr>
          <a:xfrm>
            <a:off x="502920" y="1042415"/>
            <a:ext cx="4114800" cy="365760"/>
          </a:xfrm>
          <a:prstGeom prst="rect">
            <a:avLst/>
          </a:prstGeom>
          <a:noFill/>
        </p:spPr>
        <p:txBody>
          <a:bodyPr wrap="square" lIns="0" rIns="0" tIns="0" bIns="0" anchor="t">
            <a:noAutofit/>
          </a:bodyPr>
          <a:lstStyle/>
          <a:p>
            <a:pPr>
              <a:lnSpc>
                <a:spcPts val="2160"/>
              </a:lnSpc>
              <a:spcBef>
                <a:spcPts val="0"/>
              </a:spcBef>
              <a:spcAft>
                <a:spcPts val="0"/>
              </a:spcAft>
              <a:defRPr sz="1800" b="1">
                <a:solidFill>
                  <a:srgbClr val="25324B"/>
                </a:solidFill>
                <a:latin typeface="Calibri"/>
              </a:defRPr>
            </a:pPr>
            <a:r>
              <a:t>E2: alternating Worst Case</a:t>
            </a:r>
          </a:p>
        </p:txBody>
      </p:sp>
      <p:sp>
        <p:nvSpPr>
          <p:cNvPr id="6" name="Conditions"/>
          <p:cNvSpPr txBox="1"/>
          <p:nvPr/>
        </p:nvSpPr>
        <p:spPr>
          <a:xfrm>
            <a:off x="502920" y="1554480"/>
            <a:ext cx="4069080" cy="502920"/>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Alternating inputs 64 and 192.</a:t>
            </a:r>
          </a:p>
        </p:txBody>
      </p:sp>
      <p:sp>
        <p:nvSpPr>
          <p:cNvPr id="7" name="Results"/>
          <p:cNvSpPr txBox="1"/>
          <p:nvPr/>
        </p:nvSpPr>
        <p:spPr>
          <a:xfrm>
            <a:off x="502920" y="2221992"/>
            <a:ext cx="4023360" cy="1234440"/>
          </a:xfrm>
          <a:prstGeom prst="rect">
            <a:avLst/>
          </a:prstGeom>
          <a:noFill/>
        </p:spPr>
        <p:txBody>
          <a:bodyPr wrap="square" lIns="0" rIns="0" tIns="0" bIns="0" anchor="t">
            <a:noAutofit/>
          </a:bodyPr>
          <a:lstStyle/>
          <a:p>
            <a:pPr>
              <a:lnSpc>
                <a:spcPts val="2160"/>
              </a:lnSpc>
              <a:spcBef>
                <a:spcPts val="0"/>
              </a:spcBef>
              <a:spcAft>
                <a:spcPts val="0"/>
              </a:spcAft>
              <a:defRPr sz="1800" b="0">
                <a:solidFill>
                  <a:srgbClr val="25324B"/>
                </a:solidFill>
                <a:latin typeface="Calibri"/>
              </a:defRPr>
            </a:pPr>
            <a:r>
              <a:t>• Total cycles: 378</a:t>
            </a:r>
          </a:p>
          <a:p>
            <a:pPr>
              <a:lnSpc>
                <a:spcPts val="2160"/>
              </a:lnSpc>
              <a:spcBef>
                <a:spcPts val="0"/>
              </a:spcBef>
              <a:spcAft>
                <a:spcPts val="0"/>
              </a:spcAft>
              <a:defRPr sz="1800" b="0">
                <a:solidFill>
                  <a:srgbClr val="25324B"/>
                </a:solidFill>
                <a:latin typeface="Calibri"/>
              </a:defRPr>
            </a:pPr>
            <a:r>
              <a:t>• CPP: 23.63</a:t>
            </a:r>
          </a:p>
          <a:p>
            <a:pPr>
              <a:lnSpc>
                <a:spcPts val="2160"/>
              </a:lnSpc>
              <a:spcBef>
                <a:spcPts val="0"/>
              </a:spcBef>
              <a:spcAft>
                <a:spcPts val="0"/>
              </a:spcAft>
              <a:defRPr sz="1800" b="0">
                <a:solidFill>
                  <a:srgbClr val="25324B"/>
                </a:solidFill>
                <a:latin typeface="Calibri"/>
              </a:defRPr>
            </a:pPr>
            <a:r>
              <a:t>• Cache hits: 93.75%</a:t>
            </a:r>
          </a:p>
          <a:p>
            <a:pPr>
              <a:lnSpc>
                <a:spcPts val="2160"/>
              </a:lnSpc>
              <a:spcBef>
                <a:spcPts val="0"/>
              </a:spcBef>
              <a:spcAft>
                <a:spcPts val="0"/>
              </a:spcAft>
              <a:defRPr sz="1800" b="0">
                <a:solidFill>
                  <a:srgbClr val="25324B"/>
                </a:solidFill>
                <a:latin typeface="Calibri"/>
              </a:defRPr>
            </a:pPr>
            <a:r>
              <a:t>• Correct branches: 25/32</a:t>
            </a:r>
          </a:p>
        </p:txBody>
      </p:sp>
      <p:sp>
        <p:nvSpPr>
          <p:cNvPr id="8" name="Insight background"/>
          <p:cNvSpPr/>
          <p:nvPr/>
        </p:nvSpPr>
        <p:spPr>
          <a:xfrm>
            <a:off x="502920" y="3657600"/>
            <a:ext cx="4069080" cy="932688"/>
          </a:xfrm>
          <a:prstGeom prst="rect">
            <a:avLst/>
          </a:prstGeom>
          <a:solidFill>
            <a:srgbClr val="F0F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ey insight"/>
          <p:cNvSpPr txBox="1"/>
          <p:nvPr/>
        </p:nvSpPr>
        <p:spPr>
          <a:xfrm>
            <a:off x="658368" y="3776472"/>
            <a:ext cx="3767328" cy="713232"/>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One lucky cache miss makes this run fast. Branch delay is 105 cycles; cache delay is 47.</a:t>
            </a:r>
          </a:p>
        </p:txBody>
      </p:sp>
      <p:pic>
        <p:nvPicPr>
          <p:cNvPr id="10" name="Experiment screenshot" descr="worst_metrics.png"/>
          <p:cNvPicPr>
            <a:picLocks noChangeAspect="1"/>
          </p:cNvPicPr>
          <p:nvPr/>
        </p:nvPicPr>
        <p:blipFill>
          <a:blip r:embed="rId3"/>
          <a:stretch>
            <a:fillRect/>
          </a:stretch>
        </p:blipFill>
        <p:spPr>
          <a:xfrm>
            <a:off x="4892040" y="1435608"/>
            <a:ext cx="3703320" cy="2641701"/>
          </a:xfrm>
          <a:prstGeom prst="rect">
            <a:avLst/>
          </a:prstGeom>
        </p:spPr>
      </p:pic>
      <p:sp>
        <p:nvSpPr>
          <p:cNvPr id="11" name="Screenshot caption"/>
          <p:cNvSpPr txBox="1"/>
          <p:nvPr/>
        </p:nvSpPr>
        <p:spPr>
          <a:xfrm>
            <a:off x="4892040" y="4206240"/>
            <a:ext cx="3703320" cy="502920"/>
          </a:xfrm>
          <a:prstGeom prst="rect">
            <a:avLst/>
          </a:prstGeom>
          <a:noFill/>
        </p:spPr>
        <p:txBody>
          <a:bodyPr wrap="square" lIns="0" rIns="0" tIns="0" bIns="0" anchor="t">
            <a:noAutofit/>
          </a:bodyPr>
          <a:lstStyle/>
          <a:p>
            <a:pPr>
              <a:lnSpc>
                <a:spcPts val="1680"/>
              </a:lnSpc>
              <a:spcBef>
                <a:spcPts val="0"/>
              </a:spcBef>
              <a:spcAft>
                <a:spcPts val="0"/>
              </a:spcAft>
              <a:defRPr sz="1400" b="0">
                <a:solidFill>
                  <a:srgbClr val="536079"/>
                </a:solidFill>
                <a:latin typeface="Calibri"/>
              </a:defRPr>
            </a:pPr>
            <a:r>
              <a:t>Recorded performance and cache panels;</a:t>
            </a:r>
          </a:p>
          <a:p>
            <a:pPr>
              <a:lnSpc>
                <a:spcPts val="1680"/>
              </a:lnSpc>
              <a:spcBef>
                <a:spcPts val="0"/>
              </a:spcBef>
              <a:spcAft>
                <a:spcPts val="0"/>
              </a:spcAft>
              <a:defRPr sz="1400" b="0">
                <a:solidFill>
                  <a:srgbClr val="536079"/>
                </a:solidFill>
                <a:latin typeface="Calibri"/>
              </a:defRPr>
            </a:pPr>
            <a:r>
              <a:t>regions cropped from one screenshot.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3600" b="1" dirty="0">
                <a:solidFill>
                  <a:srgbClr val="667EEA"/>
                </a:solidFill>
                <a:latin typeface="Calibri" pitchFamily="34" charset="0"/>
                <a:ea typeface="Calibri" pitchFamily="34" charset="-122"/>
                <a:cs typeface="Calibri" pitchFamily="34" charset="-120"/>
              </a:rPr>
              <a:t>Real-World Case Experiment</a:t>
            </a:r>
            <a:endParaRPr lang="en-US" sz="3600" dirty="0"/>
          </a:p>
        </p:txBody>
      </p:sp>
      <p:sp>
        <p:nvSpPr>
          <p:cNvPr id="3" name="Shape 1"/>
          <p:cNvSpPr/>
          <p:nvPr/>
        </p:nvSpPr>
        <p:spPr>
          <a:xfrm>
            <a:off x="457200" y="777240"/>
            <a:ext cx="8229600" cy="18288"/>
          </a:xfrm>
          <a:prstGeom prst="rect">
            <a:avLst/>
          </a:prstGeom>
          <a:solidFill>
            <a:srgbClr val="667EEA"/>
          </a:solidFill>
          <a:ln/>
        </p:spPr>
      </p:sp>
      <p:sp>
        <p:nvSpPr>
          <p:cNvPr id="4" name="Slide number"/>
          <p:cNvSpPr txBox="1"/>
          <p:nvPr/>
        </p:nvSpPr>
        <p:spPr>
          <a:xfrm>
            <a:off x="8183879" y="4773168"/>
            <a:ext cx="457200" cy="246888"/>
          </a:xfrm>
          <a:prstGeom prst="rect">
            <a:avLst/>
          </a:prstGeom>
          <a:noFill/>
        </p:spPr>
        <p:txBody>
          <a:bodyPr wrap="square" lIns="0" rIns="0" tIns="0" bIns="0" anchor="t">
            <a:noAutofit/>
          </a:bodyPr>
          <a:lstStyle/>
          <a:p>
            <a:pPr algn="ctr">
              <a:lnSpc>
                <a:spcPts val="1680"/>
              </a:lnSpc>
              <a:spcBef>
                <a:spcPts val="0"/>
              </a:spcBef>
              <a:spcAft>
                <a:spcPts val="0"/>
              </a:spcAft>
              <a:defRPr sz="1400" b="0">
                <a:solidFill>
                  <a:srgbClr val="536079"/>
                </a:solidFill>
                <a:latin typeface="Calibri"/>
              </a:defRPr>
            </a:pPr>
            <a:r>
              <a:t>7</a:t>
            </a:r>
          </a:p>
        </p:txBody>
      </p:sp>
      <p:sp>
        <p:nvSpPr>
          <p:cNvPr id="5" name="E3: indoor / Real Case 1"/>
          <p:cNvSpPr txBox="1"/>
          <p:nvPr/>
        </p:nvSpPr>
        <p:spPr>
          <a:xfrm>
            <a:off x="502920" y="1033271"/>
            <a:ext cx="3931920" cy="365760"/>
          </a:xfrm>
          <a:prstGeom prst="rect">
            <a:avLst/>
          </a:prstGeom>
          <a:noFill/>
        </p:spPr>
        <p:txBody>
          <a:bodyPr wrap="square" lIns="0" rIns="0" tIns="0" bIns="0" anchor="t">
            <a:noAutofit/>
          </a:bodyPr>
          <a:lstStyle/>
          <a:p>
            <a:pPr>
              <a:lnSpc>
                <a:spcPts val="2160"/>
              </a:lnSpc>
              <a:spcBef>
                <a:spcPts val="0"/>
              </a:spcBef>
              <a:spcAft>
                <a:spcPts val="0"/>
              </a:spcAft>
              <a:defRPr sz="1800" b="1">
                <a:solidFill>
                  <a:srgbClr val="764BA2"/>
                </a:solidFill>
                <a:latin typeface="Calibri"/>
              </a:defRPr>
            </a:pPr>
            <a:r>
              <a:t>E3: indoor / Real Case 1</a:t>
            </a:r>
          </a:p>
        </p:txBody>
      </p:sp>
      <p:sp>
        <p:nvSpPr>
          <p:cNvPr id="6" name="E3: indoor / Real Case 1 input"/>
          <p:cNvSpPr txBox="1"/>
          <p:nvPr/>
        </p:nvSpPr>
        <p:spPr>
          <a:xfrm>
            <a:off x="502920" y="1536192"/>
            <a:ext cx="3886200" cy="292608"/>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11 dark and 5 bright pixels</a:t>
            </a:r>
          </a:p>
        </p:txBody>
      </p:sp>
      <p:pic>
        <p:nvPicPr>
          <p:cNvPr id="7" name="E3: indoor / Real Case 1 screenshot" descr="real1_metrics.png"/>
          <p:cNvPicPr>
            <a:picLocks noChangeAspect="1"/>
          </p:cNvPicPr>
          <p:nvPr/>
        </p:nvPicPr>
        <p:blipFill>
          <a:blip r:embed="rId3"/>
          <a:stretch>
            <a:fillRect/>
          </a:stretch>
        </p:blipFill>
        <p:spPr>
          <a:xfrm>
            <a:off x="502920" y="1956816"/>
            <a:ext cx="3886200" cy="1308354"/>
          </a:xfrm>
          <a:prstGeom prst="rect">
            <a:avLst/>
          </a:prstGeom>
        </p:spPr>
      </p:pic>
      <p:sp>
        <p:nvSpPr>
          <p:cNvPr id="8" name="E3: indoor / Real Case 1 counts"/>
          <p:cNvSpPr txBox="1"/>
          <p:nvPr/>
        </p:nvSpPr>
        <p:spPr>
          <a:xfrm>
            <a:off x="502920" y="3456432"/>
            <a:ext cx="3886200" cy="658368"/>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13 hits / 3 misses; 26/32 correct branches.</a:t>
            </a:r>
          </a:p>
          <a:p>
            <a:pPr>
              <a:lnSpc>
                <a:spcPts val="1920"/>
              </a:lnSpc>
              <a:spcBef>
                <a:spcPts val="0"/>
              </a:spcBef>
              <a:spcAft>
                <a:spcPts val="0"/>
              </a:spcAft>
              <a:defRPr sz="1600" b="0">
                <a:solidFill>
                  <a:srgbClr val="25324B"/>
                </a:solidFill>
                <a:latin typeface="Calibri"/>
              </a:defRPr>
            </a:pPr>
            <a:r>
              <a:t>231 stall cycles; 16/16 pixels completed.</a:t>
            </a:r>
          </a:p>
        </p:txBody>
      </p:sp>
      <p:sp>
        <p:nvSpPr>
          <p:cNvPr id="9" name="E4: sunset / Real Case 2"/>
          <p:cNvSpPr txBox="1"/>
          <p:nvPr/>
        </p:nvSpPr>
        <p:spPr>
          <a:xfrm>
            <a:off x="4709160" y="1033271"/>
            <a:ext cx="3931920" cy="365760"/>
          </a:xfrm>
          <a:prstGeom prst="rect">
            <a:avLst/>
          </a:prstGeom>
          <a:noFill/>
        </p:spPr>
        <p:txBody>
          <a:bodyPr wrap="square" lIns="0" rIns="0" tIns="0" bIns="0" anchor="t">
            <a:noAutofit/>
          </a:bodyPr>
          <a:lstStyle/>
          <a:p>
            <a:pPr>
              <a:lnSpc>
                <a:spcPts val="2160"/>
              </a:lnSpc>
              <a:spcBef>
                <a:spcPts val="0"/>
              </a:spcBef>
              <a:spcAft>
                <a:spcPts val="0"/>
              </a:spcAft>
              <a:defRPr sz="1800" b="1">
                <a:solidFill>
                  <a:srgbClr val="764BA2"/>
                </a:solidFill>
                <a:latin typeface="Calibri"/>
              </a:defRPr>
            </a:pPr>
            <a:r>
              <a:t>E4: sunset / Real Case 2</a:t>
            </a:r>
          </a:p>
        </p:txBody>
      </p:sp>
      <p:sp>
        <p:nvSpPr>
          <p:cNvPr id="10" name="E4: sunset / Real Case 2 input"/>
          <p:cNvSpPr txBox="1"/>
          <p:nvPr/>
        </p:nvSpPr>
        <p:spPr>
          <a:xfrm>
            <a:off x="4709160" y="1536192"/>
            <a:ext cx="3886200" cy="292608"/>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8 bright followed by 8 dark pixels</a:t>
            </a:r>
          </a:p>
        </p:txBody>
      </p:sp>
      <p:pic>
        <p:nvPicPr>
          <p:cNvPr id="11" name="E4: sunset / Real Case 2 screenshot" descr="real2_metrics.png"/>
          <p:cNvPicPr>
            <a:picLocks noChangeAspect="1"/>
          </p:cNvPicPr>
          <p:nvPr/>
        </p:nvPicPr>
        <p:blipFill>
          <a:blip r:embed="rId4"/>
          <a:stretch>
            <a:fillRect/>
          </a:stretch>
        </p:blipFill>
        <p:spPr>
          <a:xfrm>
            <a:off x="4709160" y="1956816"/>
            <a:ext cx="3886200" cy="1308354"/>
          </a:xfrm>
          <a:prstGeom prst="rect">
            <a:avLst/>
          </a:prstGeom>
        </p:spPr>
      </p:pic>
      <p:sp>
        <p:nvSpPr>
          <p:cNvPr id="12" name="E4: sunset / Real Case 2 counts"/>
          <p:cNvSpPr txBox="1"/>
          <p:nvPr/>
        </p:nvSpPr>
        <p:spPr>
          <a:xfrm>
            <a:off x="4709160" y="3456432"/>
            <a:ext cx="3886200" cy="658368"/>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13 hits / 3 misses; 30/32 correct branches.</a:t>
            </a:r>
          </a:p>
          <a:p>
            <a:pPr>
              <a:lnSpc>
                <a:spcPts val="1920"/>
              </a:lnSpc>
              <a:spcBef>
                <a:spcPts val="0"/>
              </a:spcBef>
              <a:spcAft>
                <a:spcPts val="0"/>
              </a:spcAft>
              <a:defRPr sz="1600" b="0">
                <a:solidFill>
                  <a:srgbClr val="25324B"/>
                </a:solidFill>
                <a:latin typeface="Calibri"/>
              </a:defRPr>
            </a:pPr>
            <a:r>
              <a:t>171 stall cycles; 16/16 pixels completed.</a:t>
            </a:r>
          </a:p>
        </p:txBody>
      </p:sp>
      <p:sp>
        <p:nvSpPr>
          <p:cNvPr id="13" name="Data source and comparison"/>
          <p:cNvSpPr txBox="1"/>
          <p:nvPr/>
        </p:nvSpPr>
        <p:spPr>
          <a:xfrm>
            <a:off x="502920" y="4315968"/>
            <a:ext cx="8138160" cy="411480"/>
          </a:xfrm>
          <a:prstGeom prst="rect">
            <a:avLst/>
          </a:prstGeom>
          <a:noFill/>
        </p:spPr>
        <p:txBody>
          <a:bodyPr wrap="square" lIns="0" rIns="0" tIns="0" bIns="0" anchor="t">
            <a:noAutofit/>
          </a:bodyPr>
          <a:lstStyle/>
          <a:p>
            <a:pPr>
              <a:lnSpc>
                <a:spcPts val="1680"/>
              </a:lnSpc>
              <a:spcBef>
                <a:spcPts val="0"/>
              </a:spcBef>
              <a:spcAft>
                <a:spcPts val="0"/>
              </a:spcAft>
              <a:defRPr sz="1400" b="0">
                <a:solidFill>
                  <a:srgbClr val="536079"/>
                </a:solidFill>
                <a:latin typeface="Calibri"/>
              </a:defRPr>
            </a:pPr>
            <a:r>
              <a:t>Source: simulator-generated pixel lists, not camera images. Both traces exceed Best Case’s 366 cycles.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3600" b="1" dirty="0">
                <a:solidFill>
                  <a:srgbClr val="667EEA"/>
                </a:solidFill>
                <a:latin typeface="Calibri" pitchFamily="34" charset="0"/>
                <a:ea typeface="Calibri" pitchFamily="34" charset="-122"/>
                <a:cs typeface="Calibri" pitchFamily="34" charset="-120"/>
              </a:rPr>
              <a:t>Key Findings &amp; Analysis</a:t>
            </a:r>
            <a:endParaRPr lang="en-US" sz="3600" dirty="0"/>
          </a:p>
        </p:txBody>
      </p:sp>
      <p:sp>
        <p:nvSpPr>
          <p:cNvPr id="3" name="Shape 1"/>
          <p:cNvSpPr/>
          <p:nvPr/>
        </p:nvSpPr>
        <p:spPr>
          <a:xfrm>
            <a:off x="457200" y="777240"/>
            <a:ext cx="8229600" cy="18288"/>
          </a:xfrm>
          <a:prstGeom prst="rect">
            <a:avLst/>
          </a:prstGeom>
          <a:solidFill>
            <a:srgbClr val="667EEA"/>
          </a:solidFill>
          <a:ln/>
        </p:spPr>
      </p:sp>
      <p:sp>
        <p:nvSpPr>
          <p:cNvPr id="4" name="Slide number"/>
          <p:cNvSpPr txBox="1"/>
          <p:nvPr/>
        </p:nvSpPr>
        <p:spPr>
          <a:xfrm>
            <a:off x="8183879" y="4773168"/>
            <a:ext cx="457200" cy="246888"/>
          </a:xfrm>
          <a:prstGeom prst="rect">
            <a:avLst/>
          </a:prstGeom>
          <a:noFill/>
        </p:spPr>
        <p:txBody>
          <a:bodyPr wrap="square" lIns="0" rIns="0" tIns="0" bIns="0" anchor="t">
            <a:noAutofit/>
          </a:bodyPr>
          <a:lstStyle/>
          <a:p>
            <a:pPr algn="ctr">
              <a:lnSpc>
                <a:spcPts val="1680"/>
              </a:lnSpc>
              <a:spcBef>
                <a:spcPts val="0"/>
              </a:spcBef>
              <a:spcAft>
                <a:spcPts val="0"/>
              </a:spcAft>
              <a:defRPr sz="1400" b="0">
                <a:solidFill>
                  <a:srgbClr val="536079"/>
                </a:solidFill>
                <a:latin typeface="Calibri"/>
              </a:defRPr>
            </a:pPr>
            <a:r>
              <a:t>8</a:t>
            </a:r>
          </a:p>
        </p:txBody>
      </p:sp>
      <p:sp>
        <p:nvSpPr>
          <p:cNvPr id="5" name="1. Cache misses usually dominate"/>
          <p:cNvSpPr txBox="1"/>
          <p:nvPr/>
        </p:nvSpPr>
        <p:spPr>
          <a:xfrm>
            <a:off x="502920" y="1051560"/>
            <a:ext cx="3794760" cy="292608"/>
          </a:xfrm>
          <a:prstGeom prst="rect">
            <a:avLst/>
          </a:prstGeom>
          <a:noFill/>
        </p:spPr>
        <p:txBody>
          <a:bodyPr wrap="square" lIns="0" rIns="0" tIns="0" bIns="0" anchor="t">
            <a:noAutofit/>
          </a:bodyPr>
          <a:lstStyle/>
          <a:p>
            <a:pPr>
              <a:lnSpc>
                <a:spcPts val="1920"/>
              </a:lnSpc>
              <a:spcBef>
                <a:spcPts val="0"/>
              </a:spcBef>
              <a:spcAft>
                <a:spcPts val="0"/>
              </a:spcAft>
              <a:defRPr sz="1600" b="1">
                <a:solidFill>
                  <a:srgbClr val="764BA2"/>
                </a:solidFill>
                <a:latin typeface="Calibri"/>
              </a:defRPr>
            </a:pPr>
            <a:r>
              <a:t>1. Cache misses usually dominate</a:t>
            </a:r>
          </a:p>
        </p:txBody>
      </p:sp>
      <p:sp>
        <p:nvSpPr>
          <p:cNvPr id="6" name="1. Cache misses usually dominate explanation"/>
          <p:cNvSpPr txBox="1"/>
          <p:nvPr/>
        </p:nvSpPr>
        <p:spPr>
          <a:xfrm>
            <a:off x="502920" y="1444751"/>
            <a:ext cx="3794760" cy="685800"/>
          </a:xfrm>
          <a:prstGeom prst="rect">
            <a:avLst/>
          </a:prstGeom>
          <a:noFill/>
        </p:spPr>
        <p:txBody>
          <a:bodyPr wrap="square" lIns="0" rIns="0" tIns="0" bIns="0" anchor="t">
            <a:noAutofit/>
          </a:bodyPr>
          <a:lstStyle/>
          <a:p>
            <a:pPr>
              <a:lnSpc>
                <a:spcPts val="1680"/>
              </a:lnSpc>
              <a:spcBef>
                <a:spcPts val="0"/>
              </a:spcBef>
              <a:spcAft>
                <a:spcPts val="0"/>
              </a:spcAft>
              <a:defRPr sz="1400" b="0">
                <a:solidFill>
                  <a:srgbClr val="25324B"/>
                </a:solidFill>
                <a:latin typeface="Calibri"/>
              </a:defRPr>
            </a:pPr>
            <a:r>
              <a:t>Three of four complete traces: cache delay is largest. A miss adds 47 cycles; a wrong branch adds 15.</a:t>
            </a:r>
          </a:p>
        </p:txBody>
      </p:sp>
      <p:sp>
        <p:nvSpPr>
          <p:cNvPr id="7" name="2. Accuracy needs a denominator"/>
          <p:cNvSpPr txBox="1"/>
          <p:nvPr/>
        </p:nvSpPr>
        <p:spPr>
          <a:xfrm>
            <a:off x="502920" y="2194560"/>
            <a:ext cx="3794760" cy="292608"/>
          </a:xfrm>
          <a:prstGeom prst="rect">
            <a:avLst/>
          </a:prstGeom>
          <a:noFill/>
        </p:spPr>
        <p:txBody>
          <a:bodyPr wrap="square" lIns="0" rIns="0" tIns="0" bIns="0" anchor="t">
            <a:noAutofit/>
          </a:bodyPr>
          <a:lstStyle/>
          <a:p>
            <a:pPr>
              <a:lnSpc>
                <a:spcPts val="1920"/>
              </a:lnSpc>
              <a:spcBef>
                <a:spcPts val="0"/>
              </a:spcBef>
              <a:spcAft>
                <a:spcPts val="0"/>
              </a:spcAft>
              <a:defRPr sz="1600" b="1">
                <a:solidFill>
                  <a:srgbClr val="764BA2"/>
                </a:solidFill>
                <a:latin typeface="Calibri"/>
              </a:defRPr>
            </a:pPr>
            <a:r>
              <a:t>2. Accuracy needs a denominator</a:t>
            </a:r>
          </a:p>
        </p:txBody>
      </p:sp>
      <p:sp>
        <p:nvSpPr>
          <p:cNvPr id="8" name="2. Accuracy needs a denominator explanation"/>
          <p:cNvSpPr txBox="1"/>
          <p:nvPr/>
        </p:nvSpPr>
        <p:spPr>
          <a:xfrm>
            <a:off x="502920" y="2587752"/>
            <a:ext cx="3794760" cy="685800"/>
          </a:xfrm>
          <a:prstGeom prst="rect">
            <a:avLst/>
          </a:prstGeom>
          <a:noFill/>
        </p:spPr>
        <p:txBody>
          <a:bodyPr wrap="square" lIns="0" rIns="0" tIns="0" bIns="0" anchor="t">
            <a:noAutofit/>
          </a:bodyPr>
          <a:lstStyle/>
          <a:p>
            <a:pPr>
              <a:lnSpc>
                <a:spcPts val="1680"/>
              </a:lnSpc>
              <a:spcBef>
                <a:spcPts val="0"/>
              </a:spcBef>
              <a:spcAft>
                <a:spcPts val="0"/>
              </a:spcAft>
              <a:defRPr sz="1400" b="0">
                <a:solidFill>
                  <a:srgbClr val="25324B"/>
                </a:solidFill>
                <a:latin typeface="Calibri"/>
              </a:defRPr>
            </a:pPr>
            <a:r>
              <a:t>Sixteen loop checks are always right. Overall branch accuracy hides some brightness errors.</a:t>
            </a:r>
          </a:p>
        </p:txBody>
      </p:sp>
      <p:sp>
        <p:nvSpPr>
          <p:cNvPr id="9" name="3. Combining changes helps Worst"/>
          <p:cNvSpPr txBox="1"/>
          <p:nvPr/>
        </p:nvSpPr>
        <p:spPr>
          <a:xfrm>
            <a:off x="502920" y="3337560"/>
            <a:ext cx="3794760" cy="292608"/>
          </a:xfrm>
          <a:prstGeom prst="rect">
            <a:avLst/>
          </a:prstGeom>
          <a:noFill/>
        </p:spPr>
        <p:txBody>
          <a:bodyPr wrap="square" lIns="0" rIns="0" tIns="0" bIns="0" anchor="t">
            <a:noAutofit/>
          </a:bodyPr>
          <a:lstStyle/>
          <a:p>
            <a:pPr>
              <a:lnSpc>
                <a:spcPts val="1920"/>
              </a:lnSpc>
              <a:spcBef>
                <a:spcPts val="0"/>
              </a:spcBef>
              <a:spcAft>
                <a:spcPts val="0"/>
              </a:spcAft>
              <a:defRPr sz="1600" b="1">
                <a:solidFill>
                  <a:srgbClr val="764BA2"/>
                </a:solidFill>
                <a:latin typeface="Calibri"/>
              </a:defRPr>
            </a:pPr>
            <a:r>
              <a:t>3. Combining changes helps Worst</a:t>
            </a:r>
          </a:p>
        </p:txBody>
      </p:sp>
      <p:sp>
        <p:nvSpPr>
          <p:cNvPr id="10" name="3. Combining changes helps Worst explanation"/>
          <p:cNvSpPr txBox="1"/>
          <p:nvPr/>
        </p:nvSpPr>
        <p:spPr>
          <a:xfrm>
            <a:off x="502920" y="3730752"/>
            <a:ext cx="3794760" cy="685800"/>
          </a:xfrm>
          <a:prstGeom prst="rect">
            <a:avLst/>
          </a:prstGeom>
          <a:noFill/>
        </p:spPr>
        <p:txBody>
          <a:bodyPr wrap="square" lIns="0" rIns="0" tIns="0" bIns="0" anchor="t">
            <a:noAutofit/>
          </a:bodyPr>
          <a:lstStyle/>
          <a:p>
            <a:pPr>
              <a:lnSpc>
                <a:spcPts val="1680"/>
              </a:lnSpc>
              <a:spcBef>
                <a:spcPts val="0"/>
              </a:spcBef>
              <a:spcAft>
                <a:spcPts val="0"/>
              </a:spcAft>
              <a:defRPr sz="1400" b="0">
                <a:solidFill>
                  <a:srgbClr val="25324B"/>
                </a:solidFill>
                <a:latin typeface="Calibri"/>
              </a:defRPr>
            </a:pPr>
            <a:r>
              <a:t>Branch-free + unrolling: 502.93 → 329.58 mean cycles, a 34.5% reduction (40 runs each).</a:t>
            </a:r>
          </a:p>
        </p:txBody>
      </p:sp>
      <p:pic>
        <p:nvPicPr>
          <p:cNvPr id="11" name="Cycle breakdown chart" descr="cycle_breakdown.png"/>
          <p:cNvPicPr>
            <a:picLocks noChangeAspect="1"/>
          </p:cNvPicPr>
          <p:nvPr/>
        </p:nvPicPr>
        <p:blipFill>
          <a:blip r:embed="rId3"/>
          <a:stretch>
            <a:fillRect/>
          </a:stretch>
        </p:blipFill>
        <p:spPr>
          <a:xfrm>
            <a:off x="4507992" y="1234440"/>
            <a:ext cx="4160520" cy="3017520"/>
          </a:xfrm>
          <a:prstGeom prst="rect">
            <a:avLst/>
          </a:prstGeom>
        </p:spPr>
      </p:pic>
      <p:sp>
        <p:nvSpPr>
          <p:cNvPr id="12" name="Chart source"/>
          <p:cNvSpPr txBox="1"/>
          <p:nvPr/>
        </p:nvSpPr>
        <p:spPr>
          <a:xfrm>
            <a:off x="4526280" y="4343400"/>
            <a:ext cx="4133087" cy="320040"/>
          </a:xfrm>
          <a:prstGeom prst="rect">
            <a:avLst/>
          </a:prstGeom>
          <a:noFill/>
        </p:spPr>
        <p:txBody>
          <a:bodyPr wrap="square" lIns="0" rIns="0" tIns="0" bIns="0" anchor="t">
            <a:noAutofit/>
          </a:bodyPr>
          <a:lstStyle/>
          <a:p>
            <a:pPr>
              <a:lnSpc>
                <a:spcPts val="1680"/>
              </a:lnSpc>
              <a:spcBef>
                <a:spcPts val="0"/>
              </a:spcBef>
              <a:spcAft>
                <a:spcPts val="0"/>
              </a:spcAft>
              <a:defRPr sz="1400" b="0">
                <a:solidFill>
                  <a:srgbClr val="536079"/>
                </a:solidFill>
                <a:latin typeface="Calibri"/>
              </a:defRPr>
            </a:pPr>
            <a:r>
              <a:t>One recorded trace per case; not averages.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3600" b="1" dirty="0">
                <a:solidFill>
                  <a:srgbClr val="667EEA"/>
                </a:solidFill>
                <a:latin typeface="Calibri" pitchFamily="34" charset="0"/>
                <a:ea typeface="Calibri" pitchFamily="34" charset="-122"/>
                <a:cs typeface="Calibri" pitchFamily="34" charset="-120"/>
              </a:rPr>
              <a:t>Performance Metrics &amp; Data</a:t>
            </a:r>
            <a:endParaRPr lang="en-US" sz="3600" dirty="0"/>
          </a:p>
        </p:txBody>
      </p:sp>
      <p:sp>
        <p:nvSpPr>
          <p:cNvPr id="3" name="Shape 1"/>
          <p:cNvSpPr/>
          <p:nvPr/>
        </p:nvSpPr>
        <p:spPr>
          <a:xfrm>
            <a:off x="457200" y="777240"/>
            <a:ext cx="8229600" cy="18288"/>
          </a:xfrm>
          <a:prstGeom prst="rect">
            <a:avLst/>
          </a:prstGeom>
          <a:solidFill>
            <a:srgbClr val="667EEA"/>
          </a:solidFill>
          <a:ln/>
        </p:spPr>
      </p:sp>
      <p:sp>
        <p:nvSpPr>
          <p:cNvPr id="4" name="Slide number"/>
          <p:cNvSpPr txBox="1"/>
          <p:nvPr/>
        </p:nvSpPr>
        <p:spPr>
          <a:xfrm>
            <a:off x="8183879" y="4773168"/>
            <a:ext cx="457200" cy="246888"/>
          </a:xfrm>
          <a:prstGeom prst="rect">
            <a:avLst/>
          </a:prstGeom>
          <a:noFill/>
        </p:spPr>
        <p:txBody>
          <a:bodyPr wrap="square" lIns="0" rIns="0" tIns="0" bIns="0" anchor="t">
            <a:noAutofit/>
          </a:bodyPr>
          <a:lstStyle/>
          <a:p>
            <a:pPr algn="ctr">
              <a:lnSpc>
                <a:spcPts val="1680"/>
              </a:lnSpc>
              <a:spcBef>
                <a:spcPts val="0"/>
              </a:spcBef>
              <a:spcAft>
                <a:spcPts val="0"/>
              </a:spcAft>
              <a:defRPr sz="1400" b="0">
                <a:solidFill>
                  <a:srgbClr val="536079"/>
                </a:solidFill>
                <a:latin typeface="Calibri"/>
              </a:defRPr>
            </a:pPr>
            <a:r>
              <a:t>9</a:t>
            </a:r>
          </a:p>
        </p:txBody>
      </p:sp>
      <p:sp>
        <p:nvSpPr>
          <p:cNvPr id="5" name="Table units"/>
          <p:cNvSpPr txBox="1"/>
          <p:nvPr/>
        </p:nvSpPr>
        <p:spPr>
          <a:xfrm>
            <a:off x="502920" y="932688"/>
            <a:ext cx="8138160" cy="246888"/>
          </a:xfrm>
          <a:prstGeom prst="rect">
            <a:avLst/>
          </a:prstGeom>
          <a:noFill/>
        </p:spPr>
        <p:txBody>
          <a:bodyPr wrap="square" lIns="0" rIns="0" tIns="0" bIns="0" anchor="t">
            <a:noAutofit/>
          </a:bodyPr>
          <a:lstStyle/>
          <a:p>
            <a:pPr>
              <a:lnSpc>
                <a:spcPts val="1680"/>
              </a:lnSpc>
              <a:spcBef>
                <a:spcPts val="0"/>
              </a:spcBef>
              <a:spcAft>
                <a:spcPts val="0"/>
              </a:spcAft>
              <a:defRPr sz="1400" b="0">
                <a:solidFill>
                  <a:srgbClr val="536079"/>
                </a:solidFill>
                <a:latin typeface="Calibri"/>
              </a:defRPr>
            </a:pPr>
            <a:r>
              <a:t>Mean CPU cycles / 16 pixels; 40 independent runs per cell. Lower is faster.</a:t>
            </a:r>
          </a:p>
        </p:txBody>
      </p:sp>
      <p:graphicFrame>
        <p:nvGraphicFramePr>
          <p:cNvPr id="6" name="Mean cycles comparison: 40 runs per cell"/>
          <p:cNvGraphicFramePr>
            <a:graphicFrameLocks noGrp="1"/>
          </p:cNvGraphicFramePr>
          <p:nvPr/>
        </p:nvGraphicFramePr>
        <p:xfrm>
          <a:off x="502920" y="1143000"/>
          <a:ext cx="8138160" cy="2148840"/>
        </p:xfrm>
        <a:graphic>
          <a:graphicData uri="http://schemas.openxmlformats.org/drawingml/2006/table">
            <a:tbl>
              <a:tblPr firstRow="1" bandRow="1">
                <a:tableStyleId>{5C22544A-7EE6-4342-B048-85BDC9FD1C3A}</a:tableStyleId>
              </a:tblPr>
              <a:tblGrid>
                <a:gridCol w="1828800"/>
                <a:gridCol w="1577340"/>
                <a:gridCol w="1577340"/>
                <a:gridCol w="1577340"/>
                <a:gridCol w="1577340"/>
              </a:tblGrid>
              <a:tr h="358140">
                <a:tc>
                  <a:txBody>
                    <a:bodyPr/>
                    <a:lstStyle/>
                    <a:p>
                      <a:pPr>
                        <a:defRPr sz="1400" b="1">
                          <a:solidFill>
                            <a:srgbClr val="FFFFFF"/>
                          </a:solidFill>
                          <a:latin typeface="Calibri"/>
                        </a:defRPr>
                      </a:pPr>
                      <a:r>
                        <a:t>Program</a:t>
                      </a:r>
                    </a:p>
                  </a:txBody>
                  <a:tcPr marL="73152" marR="73152" marT="32004" marB="32004" anchor="ctr">
                    <a:solidFill>
                      <a:srgbClr val="667EEA"/>
                    </a:solidFill>
                  </a:tcPr>
                </a:tc>
                <a:tc>
                  <a:txBody>
                    <a:bodyPr/>
                    <a:lstStyle/>
                    <a:p>
                      <a:pPr algn="ctr">
                        <a:defRPr sz="1400" b="1">
                          <a:solidFill>
                            <a:srgbClr val="FFFFFF"/>
                          </a:solidFill>
                          <a:latin typeface="Calibri"/>
                        </a:defRPr>
                      </a:pPr>
                      <a:r>
                        <a:t>Best</a:t>
                      </a:r>
                    </a:p>
                  </a:txBody>
                  <a:tcPr marL="73152" marR="73152" marT="32004" marB="32004" anchor="ctr">
                    <a:solidFill>
                      <a:srgbClr val="667EEA"/>
                    </a:solidFill>
                  </a:tcPr>
                </a:tc>
                <a:tc>
                  <a:txBody>
                    <a:bodyPr/>
                    <a:lstStyle/>
                    <a:p>
                      <a:pPr algn="ctr">
                        <a:defRPr sz="1400" b="1">
                          <a:solidFill>
                            <a:srgbClr val="FFFFFF"/>
                          </a:solidFill>
                          <a:latin typeface="Calibri"/>
                        </a:defRPr>
                      </a:pPr>
                      <a:r>
                        <a:t>Worst</a:t>
                      </a:r>
                    </a:p>
                  </a:txBody>
                  <a:tcPr marL="73152" marR="73152" marT="32004" marB="32004" anchor="ctr">
                    <a:solidFill>
                      <a:srgbClr val="667EEA"/>
                    </a:solidFill>
                  </a:tcPr>
                </a:tc>
                <a:tc>
                  <a:txBody>
                    <a:bodyPr/>
                    <a:lstStyle/>
                    <a:p>
                      <a:pPr algn="ctr">
                        <a:defRPr sz="1400" b="1">
                          <a:solidFill>
                            <a:srgbClr val="FFFFFF"/>
                          </a:solidFill>
                          <a:latin typeface="Calibri"/>
                        </a:defRPr>
                      </a:pPr>
                      <a:r>
                        <a:t>Real 1</a:t>
                      </a:r>
                    </a:p>
                  </a:txBody>
                  <a:tcPr marL="73152" marR="73152" marT="32004" marB="32004" anchor="ctr">
                    <a:solidFill>
                      <a:srgbClr val="667EEA"/>
                    </a:solidFill>
                  </a:tcPr>
                </a:tc>
                <a:tc>
                  <a:txBody>
                    <a:bodyPr/>
                    <a:lstStyle/>
                    <a:p>
                      <a:pPr algn="ctr">
                        <a:defRPr sz="1400" b="1">
                          <a:solidFill>
                            <a:srgbClr val="FFFFFF"/>
                          </a:solidFill>
                          <a:latin typeface="Calibri"/>
                        </a:defRPr>
                      </a:pPr>
                      <a:r>
                        <a:t>Real 2</a:t>
                      </a:r>
                    </a:p>
                  </a:txBody>
                  <a:tcPr marL="73152" marR="73152" marT="32004" marB="32004" anchor="ctr">
                    <a:solidFill>
                      <a:srgbClr val="667EEA"/>
                    </a:solidFill>
                  </a:tcPr>
                </a:tc>
              </a:tr>
              <a:tr h="358140">
                <a:tc>
                  <a:txBody>
                    <a:bodyPr/>
                    <a:lstStyle/>
                    <a:p>
                      <a:pPr>
                        <a:defRPr sz="1400" b="0">
                          <a:solidFill>
                            <a:srgbClr val="25324B"/>
                          </a:solidFill>
                          <a:latin typeface="Calibri"/>
                        </a:defRPr>
                      </a:pPr>
                      <a:r>
                        <a:t>Baseline</a:t>
                      </a:r>
                    </a:p>
                  </a:txBody>
                  <a:tcPr marL="73152" marR="73152" marT="32004" marB="32004" anchor="ctr">
                    <a:solidFill>
                      <a:srgbClr val="F4F6FB"/>
                    </a:solidFill>
                  </a:tcPr>
                </a:tc>
                <a:tc>
                  <a:txBody>
                    <a:bodyPr/>
                    <a:lstStyle/>
                    <a:p>
                      <a:pPr algn="ctr">
                        <a:defRPr sz="1400" b="0">
                          <a:solidFill>
                            <a:srgbClr val="25324B"/>
                          </a:solidFill>
                          <a:latin typeface="Calibri"/>
                        </a:defRPr>
                      </a:pPr>
                      <a:r>
                        <a:t>362.73</a:t>
                      </a:r>
                    </a:p>
                  </a:txBody>
                  <a:tcPr marL="73152" marR="73152" marT="32004" marB="32004" anchor="ctr">
                    <a:solidFill>
                      <a:srgbClr val="F4F6FB"/>
                    </a:solidFill>
                  </a:tcPr>
                </a:tc>
                <a:tc>
                  <a:txBody>
                    <a:bodyPr/>
                    <a:lstStyle/>
                    <a:p>
                      <a:pPr algn="ctr">
                        <a:defRPr sz="1400" b="0">
                          <a:solidFill>
                            <a:srgbClr val="25324B"/>
                          </a:solidFill>
                          <a:latin typeface="Calibri"/>
                        </a:defRPr>
                      </a:pPr>
                      <a:r>
                        <a:t>502.93</a:t>
                      </a:r>
                    </a:p>
                  </a:txBody>
                  <a:tcPr marL="73152" marR="73152" marT="32004" marB="32004" anchor="ctr">
                    <a:solidFill>
                      <a:srgbClr val="F4F6FB"/>
                    </a:solidFill>
                  </a:tcPr>
                </a:tc>
                <a:tc>
                  <a:txBody>
                    <a:bodyPr/>
                    <a:lstStyle/>
                    <a:p>
                      <a:pPr algn="ctr">
                        <a:defRPr sz="1400" b="0">
                          <a:solidFill>
                            <a:srgbClr val="25324B"/>
                          </a:solidFill>
                          <a:latin typeface="Calibri"/>
                        </a:defRPr>
                      </a:pPr>
                      <a:r>
                        <a:t>439.83</a:t>
                      </a:r>
                    </a:p>
                  </a:txBody>
                  <a:tcPr marL="73152" marR="73152" marT="32004" marB="32004" anchor="ctr">
                    <a:solidFill>
                      <a:srgbClr val="F4F6FB"/>
                    </a:solidFill>
                  </a:tcPr>
                </a:tc>
                <a:tc>
                  <a:txBody>
                    <a:bodyPr/>
                    <a:lstStyle/>
                    <a:p>
                      <a:pPr algn="ctr">
                        <a:defRPr sz="1400" b="0">
                          <a:solidFill>
                            <a:srgbClr val="25324B"/>
                          </a:solidFill>
                          <a:latin typeface="Calibri"/>
                        </a:defRPr>
                      </a:pPr>
                      <a:r>
                        <a:t>415.35</a:t>
                      </a:r>
                    </a:p>
                  </a:txBody>
                  <a:tcPr marL="73152" marR="73152" marT="32004" marB="32004" anchor="ctr">
                    <a:solidFill>
                      <a:srgbClr val="F4F6FB"/>
                    </a:solidFill>
                  </a:tcPr>
                </a:tc>
              </a:tr>
              <a:tr h="358140">
                <a:tc>
                  <a:txBody>
                    <a:bodyPr/>
                    <a:lstStyle/>
                    <a:p>
                      <a:pPr>
                        <a:defRPr sz="1400" b="0">
                          <a:solidFill>
                            <a:srgbClr val="25324B"/>
                          </a:solidFill>
                          <a:latin typeface="Calibri"/>
                        </a:defRPr>
                      </a:pPr>
                      <a:r>
                        <a:t>Branch-free</a:t>
                      </a:r>
                    </a:p>
                  </a:txBody>
                  <a:tcPr marL="73152" marR="73152" marT="32004" marB="32004" anchor="ctr">
                    <a:solidFill>
                      <a:srgbClr val="FFFFFF"/>
                    </a:solidFill>
                  </a:tcPr>
                </a:tc>
                <a:tc>
                  <a:txBody>
                    <a:bodyPr/>
                    <a:lstStyle/>
                    <a:p>
                      <a:pPr algn="ctr">
                        <a:defRPr sz="1400" b="0">
                          <a:solidFill>
                            <a:srgbClr val="25324B"/>
                          </a:solidFill>
                          <a:latin typeface="Calibri"/>
                        </a:defRPr>
                      </a:pPr>
                      <a:r>
                        <a:t>376.40</a:t>
                      </a:r>
                    </a:p>
                  </a:txBody>
                  <a:tcPr marL="73152" marR="73152" marT="32004" marB="32004" anchor="ctr">
                    <a:solidFill>
                      <a:srgbClr val="FFFFFF"/>
                    </a:solidFill>
                  </a:tcPr>
                </a:tc>
                <a:tc>
                  <a:txBody>
                    <a:bodyPr/>
                    <a:lstStyle/>
                    <a:p>
                      <a:pPr algn="ctr">
                        <a:defRPr sz="1400" b="0">
                          <a:solidFill>
                            <a:srgbClr val="25324B"/>
                          </a:solidFill>
                          <a:latin typeface="Calibri"/>
                        </a:defRPr>
                      </a:pPr>
                      <a:r>
                        <a:t>389.33</a:t>
                      </a:r>
                    </a:p>
                  </a:txBody>
                  <a:tcPr marL="73152" marR="73152" marT="32004" marB="32004" anchor="ctr">
                    <a:solidFill>
                      <a:srgbClr val="FFFFFF"/>
                    </a:solidFill>
                  </a:tcPr>
                </a:tc>
                <a:tc>
                  <a:txBody>
                    <a:bodyPr/>
                    <a:lstStyle/>
                    <a:p>
                      <a:pPr algn="ctr">
                        <a:defRPr sz="1400" b="0">
                          <a:solidFill>
                            <a:srgbClr val="25324B"/>
                          </a:solidFill>
                          <a:latin typeface="Calibri"/>
                        </a:defRPr>
                      </a:pPr>
                      <a:r>
                        <a:t>376.40</a:t>
                      </a:r>
                    </a:p>
                  </a:txBody>
                  <a:tcPr marL="73152" marR="73152" marT="32004" marB="32004" anchor="ctr">
                    <a:solidFill>
                      <a:srgbClr val="FFFFFF"/>
                    </a:solidFill>
                  </a:tcPr>
                </a:tc>
                <a:tc>
                  <a:txBody>
                    <a:bodyPr/>
                    <a:lstStyle/>
                    <a:p>
                      <a:pPr algn="ctr">
                        <a:defRPr sz="1400" b="0">
                          <a:solidFill>
                            <a:srgbClr val="25324B"/>
                          </a:solidFill>
                          <a:latin typeface="Calibri"/>
                        </a:defRPr>
                      </a:pPr>
                      <a:r>
                        <a:t>372.88</a:t>
                      </a:r>
                    </a:p>
                  </a:txBody>
                  <a:tcPr marL="73152" marR="73152" marT="32004" marB="32004" anchor="ctr">
                    <a:solidFill>
                      <a:srgbClr val="FFFFFF"/>
                    </a:solidFill>
                  </a:tcPr>
                </a:tc>
              </a:tr>
              <a:tr h="358140">
                <a:tc>
                  <a:txBody>
                    <a:bodyPr/>
                    <a:lstStyle/>
                    <a:p>
                      <a:pPr>
                        <a:defRPr sz="1400" b="0">
                          <a:solidFill>
                            <a:srgbClr val="25324B"/>
                          </a:solidFill>
                          <a:latin typeface="Calibri"/>
                        </a:defRPr>
                      </a:pPr>
                      <a:r>
                        <a:t>Unrolled</a:t>
                      </a:r>
                    </a:p>
                  </a:txBody>
                  <a:tcPr marL="73152" marR="73152" marT="32004" marB="32004" anchor="ctr">
                    <a:solidFill>
                      <a:srgbClr val="F4F6FB"/>
                    </a:solidFill>
                  </a:tcPr>
                </a:tc>
                <a:tc>
                  <a:txBody>
                    <a:bodyPr/>
                    <a:lstStyle/>
                    <a:p>
                      <a:pPr algn="ctr">
                        <a:defRPr sz="1400" b="1">
                          <a:solidFill>
                            <a:srgbClr val="764BA2"/>
                          </a:solidFill>
                          <a:latin typeface="Calibri"/>
                        </a:defRPr>
                      </a:pPr>
                      <a:r>
                        <a:t>316.45</a:t>
                      </a:r>
                    </a:p>
                  </a:txBody>
                  <a:tcPr marL="73152" marR="73152" marT="32004" marB="32004" anchor="ctr">
                    <a:solidFill>
                      <a:srgbClr val="E9E5F4"/>
                    </a:solidFill>
                  </a:tcPr>
                </a:tc>
                <a:tc>
                  <a:txBody>
                    <a:bodyPr/>
                    <a:lstStyle/>
                    <a:p>
                      <a:pPr algn="ctr">
                        <a:defRPr sz="1400" b="0">
                          <a:solidFill>
                            <a:srgbClr val="25324B"/>
                          </a:solidFill>
                          <a:latin typeface="Calibri"/>
                        </a:defRPr>
                      </a:pPr>
                      <a:r>
                        <a:t>460.25</a:t>
                      </a:r>
                    </a:p>
                  </a:txBody>
                  <a:tcPr marL="73152" marR="73152" marT="32004" marB="32004" anchor="ctr">
                    <a:solidFill>
                      <a:srgbClr val="F4F6FB"/>
                    </a:solidFill>
                  </a:tcPr>
                </a:tc>
                <a:tc>
                  <a:txBody>
                    <a:bodyPr/>
                    <a:lstStyle/>
                    <a:p>
                      <a:pPr algn="ctr">
                        <a:defRPr sz="1400" b="0">
                          <a:solidFill>
                            <a:srgbClr val="25324B"/>
                          </a:solidFill>
                          <a:latin typeface="Calibri"/>
                        </a:defRPr>
                      </a:pPr>
                      <a:r>
                        <a:t>390.10</a:t>
                      </a:r>
                    </a:p>
                  </a:txBody>
                  <a:tcPr marL="73152" marR="73152" marT="32004" marB="32004" anchor="ctr">
                    <a:solidFill>
                      <a:srgbClr val="F4F6FB"/>
                    </a:solidFill>
                  </a:tcPr>
                </a:tc>
                <a:tc>
                  <a:txBody>
                    <a:bodyPr/>
                    <a:lstStyle/>
                    <a:p>
                      <a:pPr algn="ctr">
                        <a:defRPr sz="1400" b="0">
                          <a:solidFill>
                            <a:srgbClr val="25324B"/>
                          </a:solidFill>
                          <a:latin typeface="Calibri"/>
                        </a:defRPr>
                      </a:pPr>
                      <a:r>
                        <a:t>385.53</a:t>
                      </a:r>
                    </a:p>
                  </a:txBody>
                  <a:tcPr marL="73152" marR="73152" marT="32004" marB="32004" anchor="ctr">
                    <a:solidFill>
                      <a:srgbClr val="F4F6FB"/>
                    </a:solidFill>
                  </a:tcPr>
                </a:tc>
              </a:tr>
              <a:tr h="358140">
                <a:tc>
                  <a:txBody>
                    <a:bodyPr/>
                    <a:lstStyle/>
                    <a:p>
                      <a:pPr>
                        <a:defRPr sz="1400" b="0">
                          <a:solidFill>
                            <a:srgbClr val="25324B"/>
                          </a:solidFill>
                          <a:latin typeface="Calibri"/>
                        </a:defRPr>
                      </a:pPr>
                      <a:r>
                        <a:t>Loop-test</a:t>
                      </a:r>
                    </a:p>
                  </a:txBody>
                  <a:tcPr marL="73152" marR="73152" marT="32004" marB="32004" anchor="ctr">
                    <a:solidFill>
                      <a:srgbClr val="FFFFFF"/>
                    </a:solidFill>
                  </a:tcPr>
                </a:tc>
                <a:tc>
                  <a:txBody>
                    <a:bodyPr/>
                    <a:lstStyle/>
                    <a:p>
                      <a:pPr algn="ctr">
                        <a:defRPr sz="1400" b="0">
                          <a:solidFill>
                            <a:srgbClr val="25324B"/>
                          </a:solidFill>
                          <a:latin typeface="Calibri"/>
                        </a:defRPr>
                      </a:pPr>
                      <a:r>
                        <a:t>352.50</a:t>
                      </a:r>
                    </a:p>
                  </a:txBody>
                  <a:tcPr marL="73152" marR="73152" marT="32004" marB="32004" anchor="ctr">
                    <a:solidFill>
                      <a:srgbClr val="FFFFFF"/>
                    </a:solidFill>
                  </a:tcPr>
                </a:tc>
                <a:tc>
                  <a:txBody>
                    <a:bodyPr/>
                    <a:lstStyle/>
                    <a:p>
                      <a:pPr algn="ctr">
                        <a:defRPr sz="1400" b="0">
                          <a:solidFill>
                            <a:srgbClr val="25324B"/>
                          </a:solidFill>
                          <a:latin typeface="Calibri"/>
                        </a:defRPr>
                      </a:pPr>
                      <a:r>
                        <a:t>468.63</a:t>
                      </a:r>
                    </a:p>
                  </a:txBody>
                  <a:tcPr marL="73152" marR="73152" marT="32004" marB="32004" anchor="ctr">
                    <a:solidFill>
                      <a:srgbClr val="FFFFFF"/>
                    </a:solidFill>
                  </a:tcPr>
                </a:tc>
                <a:tc>
                  <a:txBody>
                    <a:bodyPr/>
                    <a:lstStyle/>
                    <a:p>
                      <a:pPr algn="ctr">
                        <a:defRPr sz="1400" b="0">
                          <a:solidFill>
                            <a:srgbClr val="25324B"/>
                          </a:solidFill>
                          <a:latin typeface="Calibri"/>
                        </a:defRPr>
                      </a:pPr>
                      <a:r>
                        <a:t>404.63</a:t>
                      </a:r>
                    </a:p>
                  </a:txBody>
                  <a:tcPr marL="73152" marR="73152" marT="32004" marB="32004" anchor="ctr">
                    <a:solidFill>
                      <a:srgbClr val="FFFFFF"/>
                    </a:solidFill>
                  </a:tcPr>
                </a:tc>
                <a:tc>
                  <a:txBody>
                    <a:bodyPr/>
                    <a:lstStyle/>
                    <a:p>
                      <a:pPr algn="ctr">
                        <a:defRPr sz="1400" b="0">
                          <a:solidFill>
                            <a:srgbClr val="25324B"/>
                          </a:solidFill>
                          <a:latin typeface="Calibri"/>
                        </a:defRPr>
                      </a:pPr>
                      <a:r>
                        <a:t>400.75</a:t>
                      </a:r>
                    </a:p>
                  </a:txBody>
                  <a:tcPr marL="73152" marR="73152" marT="32004" marB="32004" anchor="ctr">
                    <a:solidFill>
                      <a:srgbClr val="FFFFFF"/>
                    </a:solidFill>
                  </a:tcPr>
                </a:tc>
              </a:tr>
              <a:tr h="358140">
                <a:tc>
                  <a:txBody>
                    <a:bodyPr/>
                    <a:lstStyle/>
                    <a:p>
                      <a:pPr>
                        <a:defRPr sz="1400" b="0">
                          <a:solidFill>
                            <a:srgbClr val="25324B"/>
                          </a:solidFill>
                          <a:latin typeface="Calibri"/>
                        </a:defRPr>
                      </a:pPr>
                      <a:r>
                        <a:t>Combined</a:t>
                      </a:r>
                    </a:p>
                  </a:txBody>
                  <a:tcPr marL="73152" marR="73152" marT="32004" marB="32004" anchor="ctr">
                    <a:solidFill>
                      <a:srgbClr val="F4F6FB"/>
                    </a:solidFill>
                  </a:tcPr>
                </a:tc>
                <a:tc>
                  <a:txBody>
                    <a:bodyPr/>
                    <a:lstStyle/>
                    <a:p>
                      <a:pPr algn="ctr">
                        <a:defRPr sz="1400" b="0">
                          <a:solidFill>
                            <a:srgbClr val="25324B"/>
                          </a:solidFill>
                          <a:latin typeface="Calibri"/>
                        </a:defRPr>
                      </a:pPr>
                      <a:r>
                        <a:t>342.50</a:t>
                      </a:r>
                    </a:p>
                  </a:txBody>
                  <a:tcPr marL="73152" marR="73152" marT="32004" marB="32004" anchor="ctr">
                    <a:solidFill>
                      <a:srgbClr val="F4F6FB"/>
                    </a:solidFill>
                  </a:tcPr>
                </a:tc>
                <a:tc>
                  <a:txBody>
                    <a:bodyPr/>
                    <a:lstStyle/>
                    <a:p>
                      <a:pPr algn="ctr">
                        <a:defRPr sz="1400" b="1">
                          <a:solidFill>
                            <a:srgbClr val="764BA2"/>
                          </a:solidFill>
                          <a:latin typeface="Calibri"/>
                        </a:defRPr>
                      </a:pPr>
                      <a:r>
                        <a:t>329.58</a:t>
                      </a:r>
                    </a:p>
                  </a:txBody>
                  <a:tcPr marL="73152" marR="73152" marT="32004" marB="32004" anchor="ctr">
                    <a:solidFill>
                      <a:srgbClr val="E9E5F4"/>
                    </a:solidFill>
                  </a:tcPr>
                </a:tc>
                <a:tc>
                  <a:txBody>
                    <a:bodyPr/>
                    <a:lstStyle/>
                    <a:p>
                      <a:pPr algn="ctr">
                        <a:defRPr sz="1400" b="1">
                          <a:solidFill>
                            <a:srgbClr val="764BA2"/>
                          </a:solidFill>
                          <a:latin typeface="Calibri"/>
                        </a:defRPr>
                      </a:pPr>
                      <a:r>
                        <a:t>337.80</a:t>
                      </a:r>
                    </a:p>
                  </a:txBody>
                  <a:tcPr marL="73152" marR="73152" marT="32004" marB="32004" anchor="ctr">
                    <a:solidFill>
                      <a:srgbClr val="E9E5F4"/>
                    </a:solidFill>
                  </a:tcPr>
                </a:tc>
                <a:tc>
                  <a:txBody>
                    <a:bodyPr/>
                    <a:lstStyle/>
                    <a:p>
                      <a:pPr algn="ctr">
                        <a:defRPr sz="1400" b="1">
                          <a:solidFill>
                            <a:srgbClr val="764BA2"/>
                          </a:solidFill>
                          <a:latin typeface="Calibri"/>
                        </a:defRPr>
                      </a:pPr>
                      <a:r>
                        <a:t>335.45</a:t>
                      </a:r>
                    </a:p>
                  </a:txBody>
                  <a:tcPr marL="73152" marR="73152" marT="32004" marB="32004" anchor="ctr">
                    <a:solidFill>
                      <a:srgbClr val="E9E5F4"/>
                    </a:solidFill>
                  </a:tcPr>
                </a:tc>
              </a:tr>
            </a:tbl>
          </a:graphicData>
        </a:graphic>
      </p:graphicFrame>
      <p:sp>
        <p:nvSpPr>
          <p:cNvPr id="7" name="Metric meanings"/>
          <p:cNvSpPr txBox="1"/>
          <p:nvPr/>
        </p:nvSpPr>
        <p:spPr>
          <a:xfrm>
            <a:off x="502920" y="3511296"/>
            <a:ext cx="8138160" cy="1005840"/>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 Mean cycles compare programs; CPP = cycles ÷ 16.</a:t>
            </a:r>
          </a:p>
          <a:p>
            <a:pPr>
              <a:lnSpc>
                <a:spcPts val="1920"/>
              </a:lnSpc>
              <a:spcBef>
                <a:spcPts val="0"/>
              </a:spcBef>
              <a:spcAft>
                <a:spcPts val="0"/>
              </a:spcAft>
              <a:defRPr sz="1600" b="0">
                <a:solidFill>
                  <a:srgbClr val="25324B"/>
                </a:solidFill>
                <a:latin typeface="Calibri"/>
              </a:defRPr>
            </a:pPr>
            <a:r>
              <a:t>• Cache hit rate = hits ÷ 16 loads; stores are excluded.</a:t>
            </a:r>
          </a:p>
          <a:p>
            <a:pPr>
              <a:lnSpc>
                <a:spcPts val="1920"/>
              </a:lnSpc>
              <a:spcBef>
                <a:spcPts val="0"/>
              </a:spcBef>
              <a:spcAft>
                <a:spcPts val="0"/>
              </a:spcAft>
              <a:defRPr sz="1600" b="0">
                <a:solidFill>
                  <a:srgbClr val="25324B"/>
                </a:solidFill>
                <a:latin typeface="Calibri"/>
              </a:defRPr>
            </a:pPr>
            <a:r>
              <a:t>• Branch accuracy = correct ÷ all conditional branches, including loop checks.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3600" b="1" dirty="0">
                <a:solidFill>
                  <a:srgbClr val="667EEA"/>
                </a:solidFill>
                <a:latin typeface="Calibri" pitchFamily="34" charset="0"/>
                <a:ea typeface="Calibri" pitchFamily="34" charset="-122"/>
                <a:cs typeface="Calibri" pitchFamily="34" charset="-120"/>
              </a:rPr>
              <a:t>Trade-Off Analysis</a:t>
            </a:r>
            <a:endParaRPr lang="en-US" sz="3600" dirty="0"/>
          </a:p>
        </p:txBody>
      </p:sp>
      <p:sp>
        <p:nvSpPr>
          <p:cNvPr id="3" name="Shape 1"/>
          <p:cNvSpPr/>
          <p:nvPr/>
        </p:nvSpPr>
        <p:spPr>
          <a:xfrm>
            <a:off x="457200" y="777240"/>
            <a:ext cx="8229600" cy="18288"/>
          </a:xfrm>
          <a:prstGeom prst="rect">
            <a:avLst/>
          </a:prstGeom>
          <a:solidFill>
            <a:srgbClr val="667EEA"/>
          </a:solidFill>
          <a:ln/>
        </p:spPr>
      </p:sp>
      <p:sp>
        <p:nvSpPr>
          <p:cNvPr id="4" name="Slide number"/>
          <p:cNvSpPr txBox="1"/>
          <p:nvPr/>
        </p:nvSpPr>
        <p:spPr>
          <a:xfrm>
            <a:off x="8183879" y="4773168"/>
            <a:ext cx="457200" cy="246888"/>
          </a:xfrm>
          <a:prstGeom prst="rect">
            <a:avLst/>
          </a:prstGeom>
          <a:noFill/>
        </p:spPr>
        <p:txBody>
          <a:bodyPr wrap="square" lIns="0" rIns="0" tIns="0" bIns="0" anchor="t">
            <a:noAutofit/>
          </a:bodyPr>
          <a:lstStyle/>
          <a:p>
            <a:pPr algn="ctr">
              <a:lnSpc>
                <a:spcPts val="1680"/>
              </a:lnSpc>
              <a:spcBef>
                <a:spcPts val="0"/>
              </a:spcBef>
              <a:spcAft>
                <a:spcPts val="0"/>
              </a:spcAft>
              <a:defRPr sz="1400" b="0">
                <a:solidFill>
                  <a:srgbClr val="536079"/>
                </a:solidFill>
                <a:latin typeface="Calibri"/>
              </a:defRPr>
            </a:pPr>
            <a:r>
              <a:t>10</a:t>
            </a:r>
          </a:p>
        </p:txBody>
      </p:sp>
      <p:sp>
        <p:nvSpPr>
          <p:cNvPr id="5" name="Speed vs. Accuracy"/>
          <p:cNvSpPr/>
          <p:nvPr/>
        </p:nvSpPr>
        <p:spPr>
          <a:xfrm>
            <a:off x="502920" y="1042415"/>
            <a:ext cx="8138160" cy="886968"/>
          </a:xfrm>
          <a:prstGeom prst="rect">
            <a:avLst/>
          </a:prstGeom>
          <a:solidFill>
            <a:srgbClr val="F0F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eed vs. Accuracy label"/>
          <p:cNvSpPr txBox="1"/>
          <p:nvPr/>
        </p:nvSpPr>
        <p:spPr>
          <a:xfrm>
            <a:off x="667512" y="1133856"/>
            <a:ext cx="7772400" cy="274320"/>
          </a:xfrm>
          <a:prstGeom prst="rect">
            <a:avLst/>
          </a:prstGeom>
          <a:noFill/>
        </p:spPr>
        <p:txBody>
          <a:bodyPr wrap="square" lIns="0" rIns="0" tIns="0" bIns="0" anchor="t">
            <a:noAutofit/>
          </a:bodyPr>
          <a:lstStyle/>
          <a:p>
            <a:pPr>
              <a:lnSpc>
                <a:spcPts val="2160"/>
              </a:lnSpc>
              <a:spcBef>
                <a:spcPts val="0"/>
              </a:spcBef>
              <a:spcAft>
                <a:spcPts val="0"/>
              </a:spcAft>
              <a:defRPr sz="1800" b="1">
                <a:solidFill>
                  <a:srgbClr val="764BA2"/>
                </a:solidFill>
                <a:latin typeface="Calibri"/>
              </a:defRPr>
            </a:pPr>
            <a:r>
              <a:t>Speed vs. Accuracy</a:t>
            </a:r>
          </a:p>
        </p:txBody>
      </p:sp>
      <p:sp>
        <p:nvSpPr>
          <p:cNvPr id="7" name="Speed vs. Accuracy data"/>
          <p:cNvSpPr txBox="1"/>
          <p:nvPr/>
        </p:nvSpPr>
        <p:spPr>
          <a:xfrm>
            <a:off x="667512" y="1435607"/>
            <a:ext cx="7754112" cy="457200"/>
          </a:xfrm>
          <a:prstGeom prst="rect">
            <a:avLst/>
          </a:prstGeom>
          <a:noFill/>
        </p:spPr>
        <p:txBody>
          <a:bodyPr wrap="square" lIns="0" rIns="0" tIns="0" bIns="0" anchor="t">
            <a:noAutofit/>
          </a:bodyPr>
          <a:lstStyle/>
          <a:p>
            <a:pPr>
              <a:lnSpc>
                <a:spcPts val="1680"/>
              </a:lnSpc>
              <a:spcBef>
                <a:spcPts val="0"/>
              </a:spcBef>
              <a:spcAft>
                <a:spcPts val="0"/>
              </a:spcAft>
              <a:defRPr sz="1400" b="0">
                <a:solidFill>
                  <a:srgbClr val="25324B"/>
                </a:solidFill>
                <a:latin typeface="Calibri"/>
              </a:defRPr>
            </a:pPr>
            <a:r>
              <a:t>All 800 runs passed output checks. Branch-free is 3.8% slower on Best but 22.6% faster on Worst.</a:t>
            </a:r>
          </a:p>
        </p:txBody>
      </p:sp>
      <p:sp>
        <p:nvSpPr>
          <p:cNvPr id="8" name="Size vs. Performance"/>
          <p:cNvSpPr/>
          <p:nvPr/>
        </p:nvSpPr>
        <p:spPr>
          <a:xfrm>
            <a:off x="502920" y="2048256"/>
            <a:ext cx="8138160" cy="886968"/>
          </a:xfrm>
          <a:prstGeom prst="rect">
            <a:avLst/>
          </a:prstGeom>
          <a:solidFill>
            <a:srgbClr val="F0F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ize vs. Performance label"/>
          <p:cNvSpPr txBox="1"/>
          <p:nvPr/>
        </p:nvSpPr>
        <p:spPr>
          <a:xfrm>
            <a:off x="667512" y="2139696"/>
            <a:ext cx="7772400" cy="274320"/>
          </a:xfrm>
          <a:prstGeom prst="rect">
            <a:avLst/>
          </a:prstGeom>
          <a:noFill/>
        </p:spPr>
        <p:txBody>
          <a:bodyPr wrap="square" lIns="0" rIns="0" tIns="0" bIns="0" anchor="t">
            <a:noAutofit/>
          </a:bodyPr>
          <a:lstStyle/>
          <a:p>
            <a:pPr>
              <a:lnSpc>
                <a:spcPts val="2160"/>
              </a:lnSpc>
              <a:spcBef>
                <a:spcPts val="0"/>
              </a:spcBef>
              <a:spcAft>
                <a:spcPts val="0"/>
              </a:spcAft>
              <a:defRPr sz="1800" b="1">
                <a:solidFill>
                  <a:srgbClr val="764BA2"/>
                </a:solidFill>
                <a:latin typeface="Calibri"/>
              </a:defRPr>
            </a:pPr>
            <a:r>
              <a:t>Size vs. Performance</a:t>
            </a:r>
          </a:p>
        </p:txBody>
      </p:sp>
      <p:sp>
        <p:nvSpPr>
          <p:cNvPr id="10" name="Size vs. Performance data"/>
          <p:cNvSpPr txBox="1"/>
          <p:nvPr/>
        </p:nvSpPr>
        <p:spPr>
          <a:xfrm>
            <a:off x="667512" y="2441448"/>
            <a:ext cx="7754112" cy="457200"/>
          </a:xfrm>
          <a:prstGeom prst="rect">
            <a:avLst/>
          </a:prstGeom>
          <a:noFill/>
        </p:spPr>
        <p:txBody>
          <a:bodyPr wrap="square" lIns="0" rIns="0" tIns="0" bIns="0" anchor="t">
            <a:noAutofit/>
          </a:bodyPr>
          <a:lstStyle/>
          <a:p>
            <a:pPr>
              <a:lnSpc>
                <a:spcPts val="1680"/>
              </a:lnSpc>
              <a:spcBef>
                <a:spcPts val="0"/>
              </a:spcBef>
              <a:spcAft>
                <a:spcPts val="0"/>
              </a:spcAft>
              <a:defRPr sz="1400" b="0">
                <a:solidFill>
                  <a:srgbClr val="25324B"/>
                </a:solidFill>
                <a:latin typeface="Calibri"/>
              </a:defRPr>
            </a:pPr>
            <a:r>
              <a:t>Unrolling: 14 → 35 listed instructions; loop branches 16 → 4. Cache-size effects are not modeled.</a:t>
            </a:r>
          </a:p>
        </p:txBody>
      </p:sp>
      <p:sp>
        <p:nvSpPr>
          <p:cNvPr id="11" name="Latency vs. Throughput"/>
          <p:cNvSpPr/>
          <p:nvPr/>
        </p:nvSpPr>
        <p:spPr>
          <a:xfrm>
            <a:off x="502920" y="3054096"/>
            <a:ext cx="8138160" cy="886968"/>
          </a:xfrm>
          <a:prstGeom prst="rect">
            <a:avLst/>
          </a:prstGeom>
          <a:solidFill>
            <a:srgbClr val="F0F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atency vs. Throughput label"/>
          <p:cNvSpPr txBox="1"/>
          <p:nvPr/>
        </p:nvSpPr>
        <p:spPr>
          <a:xfrm>
            <a:off x="667512" y="3145536"/>
            <a:ext cx="7772400" cy="274320"/>
          </a:xfrm>
          <a:prstGeom prst="rect">
            <a:avLst/>
          </a:prstGeom>
          <a:noFill/>
        </p:spPr>
        <p:txBody>
          <a:bodyPr wrap="square" lIns="0" rIns="0" tIns="0" bIns="0" anchor="t">
            <a:noAutofit/>
          </a:bodyPr>
          <a:lstStyle/>
          <a:p>
            <a:pPr>
              <a:lnSpc>
                <a:spcPts val="2160"/>
              </a:lnSpc>
              <a:spcBef>
                <a:spcPts val="0"/>
              </a:spcBef>
              <a:spcAft>
                <a:spcPts val="0"/>
              </a:spcAft>
              <a:defRPr sz="1800" b="1">
                <a:solidFill>
                  <a:srgbClr val="764BA2"/>
                </a:solidFill>
                <a:latin typeface="Calibri"/>
              </a:defRPr>
            </a:pPr>
            <a:r>
              <a:t>Latency vs. Throughput</a:t>
            </a:r>
          </a:p>
        </p:txBody>
      </p:sp>
      <p:sp>
        <p:nvSpPr>
          <p:cNvPr id="13" name="Latency vs. Throughput data"/>
          <p:cNvSpPr txBox="1"/>
          <p:nvPr/>
        </p:nvSpPr>
        <p:spPr>
          <a:xfrm>
            <a:off x="667512" y="3447288"/>
            <a:ext cx="7754112" cy="457200"/>
          </a:xfrm>
          <a:prstGeom prst="rect">
            <a:avLst/>
          </a:prstGeom>
          <a:noFill/>
        </p:spPr>
        <p:txBody>
          <a:bodyPr wrap="square" lIns="0" rIns="0" tIns="0" bIns="0" anchor="t">
            <a:noAutofit/>
          </a:bodyPr>
          <a:lstStyle/>
          <a:p>
            <a:pPr>
              <a:lnSpc>
                <a:spcPts val="1680"/>
              </a:lnSpc>
              <a:spcBef>
                <a:spcPts val="0"/>
              </a:spcBef>
              <a:spcAft>
                <a:spcPts val="0"/>
              </a:spcAft>
              <a:defRPr sz="1400" b="0">
                <a:solidFill>
                  <a:srgbClr val="25324B"/>
                </a:solidFill>
                <a:latin typeface="Calibri"/>
              </a:defRPr>
            </a:pPr>
            <a:r>
              <a:t>20% fewer cycles gives 25% more throughput. The 2M-image, four-hour estimate still needs one processor.</a:t>
            </a:r>
          </a:p>
        </p:txBody>
      </p:sp>
      <p:sp>
        <p:nvSpPr>
          <p:cNvPr id="14" name="Trade-off conclusion"/>
          <p:cNvSpPr txBox="1"/>
          <p:nvPr/>
        </p:nvSpPr>
        <p:spPr>
          <a:xfrm>
            <a:off x="502920" y="4233672"/>
            <a:ext cx="8138160" cy="502920"/>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Priority: correct output first; then lower cycle cost. At constant 8 W, annual electricity remains $8.4096.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3600" b="1" dirty="0">
                <a:solidFill>
                  <a:srgbClr val="667EEA"/>
                </a:solidFill>
                <a:latin typeface="Calibri" pitchFamily="34" charset="0"/>
                <a:ea typeface="Calibri" pitchFamily="34" charset="-122"/>
                <a:cs typeface="Calibri" pitchFamily="34" charset="-120"/>
              </a:rPr>
              <a:t>Conclusions &amp; Recommendations</a:t>
            </a:r>
            <a:endParaRPr lang="en-US" sz="3600" dirty="0"/>
          </a:p>
        </p:txBody>
      </p:sp>
      <p:sp>
        <p:nvSpPr>
          <p:cNvPr id="3" name="Shape 1"/>
          <p:cNvSpPr/>
          <p:nvPr/>
        </p:nvSpPr>
        <p:spPr>
          <a:xfrm>
            <a:off x="457200" y="777240"/>
            <a:ext cx="8229600" cy="18288"/>
          </a:xfrm>
          <a:prstGeom prst="rect">
            <a:avLst/>
          </a:prstGeom>
          <a:solidFill>
            <a:srgbClr val="667EEA"/>
          </a:solidFill>
          <a:ln/>
        </p:spPr>
      </p:sp>
      <p:sp>
        <p:nvSpPr>
          <p:cNvPr id="4" name="Slide number"/>
          <p:cNvSpPr txBox="1"/>
          <p:nvPr/>
        </p:nvSpPr>
        <p:spPr>
          <a:xfrm>
            <a:off x="8183879" y="4773168"/>
            <a:ext cx="457200" cy="246888"/>
          </a:xfrm>
          <a:prstGeom prst="rect">
            <a:avLst/>
          </a:prstGeom>
          <a:noFill/>
        </p:spPr>
        <p:txBody>
          <a:bodyPr wrap="square" lIns="0" rIns="0" tIns="0" bIns="0" anchor="t">
            <a:noAutofit/>
          </a:bodyPr>
          <a:lstStyle/>
          <a:p>
            <a:pPr algn="ctr">
              <a:lnSpc>
                <a:spcPts val="1680"/>
              </a:lnSpc>
              <a:spcBef>
                <a:spcPts val="0"/>
              </a:spcBef>
              <a:spcAft>
                <a:spcPts val="0"/>
              </a:spcAft>
              <a:defRPr sz="1400" b="0">
                <a:solidFill>
                  <a:srgbClr val="536079"/>
                </a:solidFill>
                <a:latin typeface="Calibri"/>
              </a:defRPr>
            </a:pPr>
            <a:r>
              <a:t>11</a:t>
            </a:r>
          </a:p>
        </p:txBody>
      </p:sp>
      <p:sp>
        <p:nvSpPr>
          <p:cNvPr id="5" name="Conclusions label"/>
          <p:cNvSpPr txBox="1"/>
          <p:nvPr/>
        </p:nvSpPr>
        <p:spPr>
          <a:xfrm>
            <a:off x="502920" y="1033271"/>
            <a:ext cx="3858768" cy="301752"/>
          </a:xfrm>
          <a:prstGeom prst="rect">
            <a:avLst/>
          </a:prstGeom>
          <a:noFill/>
        </p:spPr>
        <p:txBody>
          <a:bodyPr wrap="square" lIns="0" rIns="0" tIns="0" bIns="0" anchor="t">
            <a:noAutofit/>
          </a:bodyPr>
          <a:lstStyle/>
          <a:p>
            <a:pPr>
              <a:lnSpc>
                <a:spcPts val="2160"/>
              </a:lnSpc>
              <a:spcBef>
                <a:spcPts val="0"/>
              </a:spcBef>
              <a:spcAft>
                <a:spcPts val="0"/>
              </a:spcAft>
              <a:defRPr sz="1800" b="1">
                <a:solidFill>
                  <a:srgbClr val="764BA2"/>
                </a:solidFill>
                <a:latin typeface="Calibri"/>
              </a:defRPr>
            </a:pPr>
            <a:r>
              <a:t>Key conclusions</a:t>
            </a:r>
          </a:p>
        </p:txBody>
      </p:sp>
      <p:sp>
        <p:nvSpPr>
          <p:cNvPr id="6" name="Conclusions"/>
          <p:cNvSpPr txBox="1"/>
          <p:nvPr/>
        </p:nvSpPr>
        <p:spPr>
          <a:xfrm>
            <a:off x="502920" y="1481328"/>
            <a:ext cx="3913632" cy="1234440"/>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 Cache delay dominates 3/4 traces.</a:t>
            </a:r>
          </a:p>
          <a:p>
            <a:pPr>
              <a:lnSpc>
                <a:spcPts val="1920"/>
              </a:lnSpc>
              <a:spcBef>
                <a:spcPts val="0"/>
              </a:spcBef>
              <a:spcAft>
                <a:spcPts val="0"/>
              </a:spcAft>
              <a:defRPr sz="1600" b="0">
                <a:solidFill>
                  <a:srgbClr val="25324B"/>
                </a:solidFill>
                <a:latin typeface="Calibri"/>
              </a:defRPr>
            </a:pPr>
            <a:r>
              <a:t>• Combined leads Worst and both realistic cases.</a:t>
            </a:r>
          </a:p>
        </p:txBody>
      </p:sp>
      <p:sp>
        <p:nvSpPr>
          <p:cNvPr id="7" name="Recommendations label"/>
          <p:cNvSpPr txBox="1"/>
          <p:nvPr/>
        </p:nvSpPr>
        <p:spPr>
          <a:xfrm>
            <a:off x="4690872" y="1033271"/>
            <a:ext cx="3950208" cy="301752"/>
          </a:xfrm>
          <a:prstGeom prst="rect">
            <a:avLst/>
          </a:prstGeom>
          <a:noFill/>
        </p:spPr>
        <p:txBody>
          <a:bodyPr wrap="square" lIns="0" rIns="0" tIns="0" bIns="0" anchor="t">
            <a:noAutofit/>
          </a:bodyPr>
          <a:lstStyle/>
          <a:p>
            <a:pPr>
              <a:lnSpc>
                <a:spcPts val="2160"/>
              </a:lnSpc>
              <a:spcBef>
                <a:spcPts val="0"/>
              </a:spcBef>
              <a:spcAft>
                <a:spcPts val="0"/>
              </a:spcAft>
              <a:defRPr sz="1800" b="1">
                <a:solidFill>
                  <a:srgbClr val="764BA2"/>
                </a:solidFill>
                <a:latin typeface="Calibri"/>
              </a:defRPr>
            </a:pPr>
            <a:r>
              <a:t>Recommendations</a:t>
            </a:r>
          </a:p>
        </p:txBody>
      </p:sp>
      <p:sp>
        <p:nvSpPr>
          <p:cNvPr id="8" name="Recommendations"/>
          <p:cNvSpPr txBox="1"/>
          <p:nvPr/>
        </p:nvSpPr>
        <p:spPr>
          <a:xfrm>
            <a:off x="4690872" y="1481328"/>
            <a:ext cx="3950208" cy="1234440"/>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 Mixed inputs: test combined first.</a:t>
            </a:r>
          </a:p>
          <a:p>
            <a:pPr>
              <a:lnSpc>
                <a:spcPts val="1920"/>
              </a:lnSpc>
              <a:spcBef>
                <a:spcPts val="0"/>
              </a:spcBef>
              <a:spcAft>
                <a:spcPts val="0"/>
              </a:spcAft>
              <a:defRPr sz="1600" b="0">
                <a:solidFill>
                  <a:srgbClr val="25324B"/>
                </a:solidFill>
                <a:latin typeface="Calibri"/>
              </a:defRPr>
            </a:pPr>
            <a:r>
              <a:t>• All-dark inputs: compare unrolled and combined.</a:t>
            </a:r>
          </a:p>
        </p:txBody>
      </p:sp>
      <p:sp>
        <p:nvSpPr>
          <p:cNvPr id="9" name="Application background"/>
          <p:cNvSpPr/>
          <p:nvPr/>
        </p:nvSpPr>
        <p:spPr>
          <a:xfrm>
            <a:off x="502920" y="2834640"/>
            <a:ext cx="8138160" cy="1737360"/>
          </a:xfrm>
          <a:prstGeom prst="rect">
            <a:avLst/>
          </a:prstGeom>
          <a:solidFill>
            <a:srgbClr val="F0F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pplication label"/>
          <p:cNvSpPr txBox="1"/>
          <p:nvPr/>
        </p:nvSpPr>
        <p:spPr>
          <a:xfrm>
            <a:off x="685800" y="2999232"/>
            <a:ext cx="7772400" cy="320040"/>
          </a:xfrm>
          <a:prstGeom prst="rect">
            <a:avLst/>
          </a:prstGeom>
          <a:noFill/>
        </p:spPr>
        <p:txBody>
          <a:bodyPr wrap="square" lIns="0" rIns="0" tIns="0" bIns="0" anchor="t">
            <a:noAutofit/>
          </a:bodyPr>
          <a:lstStyle/>
          <a:p>
            <a:pPr>
              <a:lnSpc>
                <a:spcPts val="2160"/>
              </a:lnSpc>
              <a:spcBef>
                <a:spcPts val="0"/>
              </a:spcBef>
              <a:spcAft>
                <a:spcPts val="0"/>
              </a:spcAft>
              <a:defRPr sz="1800" b="1">
                <a:solidFill>
                  <a:srgbClr val="764BA2"/>
                </a:solidFill>
                <a:latin typeface="Calibri"/>
              </a:defRPr>
            </a:pPr>
            <a:r>
              <a:t>Real-world application</a:t>
            </a:r>
          </a:p>
        </p:txBody>
      </p:sp>
      <p:sp>
        <p:nvSpPr>
          <p:cNvPr id="11" name="Application and limits"/>
          <p:cNvSpPr txBox="1"/>
          <p:nvPr/>
        </p:nvSpPr>
        <p:spPr>
          <a:xfrm>
            <a:off x="685800" y="3511296"/>
            <a:ext cx="7744968" cy="1005840"/>
          </a:xfrm>
          <a:prstGeom prst="rect">
            <a:avLst/>
          </a:prstGeom>
          <a:noFill/>
        </p:spPr>
        <p:txBody>
          <a:bodyPr wrap="square" lIns="0" rIns="0" tIns="0" bIns="0" anchor="t">
            <a:noAutofit/>
          </a:bodyPr>
          <a:lstStyle/>
          <a:p>
            <a:pPr>
              <a:lnSpc>
                <a:spcPts val="1920"/>
              </a:lnSpc>
              <a:spcBef>
                <a:spcPts val="0"/>
              </a:spcBef>
              <a:spcAft>
                <a:spcPts val="0"/>
              </a:spcAft>
              <a:defRPr sz="1600" b="0">
                <a:solidFill>
                  <a:srgbClr val="25324B"/>
                </a:solidFill>
                <a:latin typeface="Calibri"/>
              </a:defRPr>
            </a:pPr>
            <a:r>
              <a:t>Use the approach to profile edge image-processing loops. Keep output checks and compare representative inputs.</a:t>
            </a:r>
          </a:p>
          <a:p>
            <a:pPr>
              <a:lnSpc>
                <a:spcPts val="1920"/>
              </a:lnSpc>
              <a:spcBef>
                <a:spcPts val="0"/>
              </a:spcBef>
              <a:spcAft>
                <a:spcPts val="0"/>
              </a:spcAft>
              <a:defRPr sz="1600" b="0">
                <a:solidFill>
                  <a:srgbClr val="25324B"/>
                </a:solidFill>
                <a:latin typeface="Calibri"/>
              </a:defRPr>
            </a:pPr>
            <a:r>
              <a:t>Validate on an actual compiler and processor before using these percentages for deployment or cost promises.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764BA2"/>
        </a:solidFill>
      </p:bgPr>
    </p:bg>
    <p:spTree>
      <p:nvGrpSpPr>
        <p:cNvPr id="1" name=""/>
        <p:cNvGrpSpPr/>
        <p:nvPr/>
      </p:nvGrpSpPr>
      <p:grpSpPr>
        <a:xfrm>
          <a:off x="0" y="0"/>
          <a:ext cx="0" cy="0"/>
          <a:chOff x="0" y="0"/>
          <a:chExt cx="0" cy="0"/>
        </a:xfrm>
      </p:grpSpPr>
      <p:sp>
        <p:nvSpPr>
          <p:cNvPr id="2" name="Template closing title"/>
          <p:cNvSpPr txBox="1"/>
          <p:nvPr/>
        </p:nvSpPr>
        <p:spPr>
          <a:xfrm>
            <a:off x="457200" y="1828800"/>
            <a:ext cx="8229600" cy="786384"/>
          </a:xfrm>
          <a:prstGeom prst="rect">
            <a:avLst/>
          </a:prstGeom>
          <a:noFill/>
        </p:spPr>
        <p:txBody>
          <a:bodyPr wrap="square" lIns="0" rIns="0" tIns="0" bIns="0" anchor="t">
            <a:noAutofit/>
          </a:bodyPr>
          <a:lstStyle/>
          <a:p>
            <a:pPr algn="ctr">
              <a:lnSpc>
                <a:spcPts val="5280"/>
              </a:lnSpc>
              <a:spcBef>
                <a:spcPts val="0"/>
              </a:spcBef>
              <a:spcAft>
                <a:spcPts val="0"/>
              </a:spcAft>
              <a:defRPr sz="4400" b="1">
                <a:solidFill>
                  <a:srgbClr val="FFFFFF"/>
                </a:solidFill>
                <a:latin typeface="Calibri"/>
              </a:defRPr>
            </a:pPr>
            <a:r>
              <a:t>Questions &amp; Discussion</a:t>
            </a:r>
          </a:p>
        </p:txBody>
      </p:sp>
      <p:sp>
        <p:nvSpPr>
          <p:cNvPr id="3" name="Thanks"/>
          <p:cNvSpPr txBox="1"/>
          <p:nvPr/>
        </p:nvSpPr>
        <p:spPr>
          <a:xfrm>
            <a:off x="457200" y="2926080"/>
            <a:ext cx="8229600" cy="365760"/>
          </a:xfrm>
          <a:prstGeom prst="rect">
            <a:avLst/>
          </a:prstGeom>
          <a:noFill/>
        </p:spPr>
        <p:txBody>
          <a:bodyPr wrap="square" lIns="0" rIns="0" tIns="0" bIns="0" anchor="t">
            <a:noAutofit/>
          </a:bodyPr>
          <a:lstStyle/>
          <a:p>
            <a:pPr algn="ctr">
              <a:lnSpc>
                <a:spcPts val="2160"/>
              </a:lnSpc>
              <a:spcBef>
                <a:spcPts val="0"/>
              </a:spcBef>
              <a:spcAft>
                <a:spcPts val="0"/>
              </a:spcAft>
              <a:defRPr sz="1800" b="0">
                <a:solidFill>
                  <a:srgbClr val="FFFFFF"/>
                </a:solidFill>
                <a:latin typeface="Calibri"/>
              </a:defRPr>
            </a:pPr>
            <a:r>
              <a:t>Thank you for your attention!</a:t>
            </a:r>
          </a:p>
        </p:txBody>
      </p:sp>
      <p:sp>
        <p:nvSpPr>
          <p:cNvPr id="4" name="Course closing"/>
          <p:cNvSpPr txBox="1"/>
          <p:nvPr/>
        </p:nvSpPr>
        <p:spPr>
          <a:xfrm>
            <a:off x="457200" y="3429000"/>
            <a:ext cx="8229600" cy="365760"/>
          </a:xfrm>
          <a:prstGeom prst="rect">
            <a:avLst/>
          </a:prstGeom>
          <a:noFill/>
        </p:spPr>
        <p:txBody>
          <a:bodyPr wrap="square" lIns="0" rIns="0" tIns="0" bIns="0" anchor="t">
            <a:noAutofit/>
          </a:bodyPr>
          <a:lstStyle/>
          <a:p>
            <a:pPr algn="ctr">
              <a:lnSpc>
                <a:spcPts val="2160"/>
              </a:lnSpc>
              <a:spcBef>
                <a:spcPts val="0"/>
              </a:spcBef>
              <a:spcAft>
                <a:spcPts val="0"/>
              </a:spcAft>
              <a:defRPr sz="1800" b="0">
                <a:solidFill>
                  <a:srgbClr val="FFFFFF"/>
                </a:solidFill>
                <a:latin typeface="Calibri"/>
              </a:defRPr>
            </a:pPr>
            <a:r>
              <a:t>Computer Organization (BSC/ITE 104)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CPU instruction execution: image brightness processing</dc:title>
  <dc:subject>BSC/ITE 104 project presentation</dc:subject>
  <dc:creator/>
  <cp:lastModifiedBy/>
  <cp:revision>1</cp:revision>
  <dcterms:created xsi:type="dcterms:W3CDTF">2026-10-01T03:56:56Z</dcterms:created>
  <dcterms:modified xsi:type="dcterms:W3CDTF">2026-10-01T03:56:56Z</dcterms:modified>
</cp:coreProperties>
</file>